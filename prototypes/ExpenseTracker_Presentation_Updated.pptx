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
  
  
  <Relationship Id="rId3" Type="http://schemas.openxmlformats.org/officeDocument/2006/relationships/extended-properties" Target="docProps/app.xml"/>
  
  
  <Relationship Id="rId2" Type="http://schemas.openxmlformats.org/package/2006/relationships/metadata/core-properties" Target="docProps/core.xml"/>
  
  
  <Relationship Id="rId1" Type="http://schemas.openxmlformats.org/officeDocument/2006/relationships/officeDocument" Target="ppt/presentation.xml"/>
  
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22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15"/>
    <p:sldId id="265" r:id="rId16"/>
    <p:sldId id="266" r:id="rId17"/>
    <p:sldId id="263" r:id="rId9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42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
  
  
  <Relationship Id="rId8" Type="http://schemas.openxmlformats.org/officeDocument/2006/relationships/slide" Target="slides/slide7.xml"/>
  
  
  <Relationship Id="rId13" Type="http://schemas.openxmlformats.org/officeDocument/2006/relationships/theme" Target="theme/theme1.xml"/>
  
  
  <Relationship Id="rId3" Type="http://schemas.openxmlformats.org/officeDocument/2006/relationships/slide" Target="slides/slide2.xml"/>
  
  
  <Relationship Id="rId7" Type="http://schemas.openxmlformats.org/officeDocument/2006/relationships/slide" Target="slides/slide6.xml"/>
  
  
  <Relationship Id="rId12" Type="http://schemas.openxmlformats.org/officeDocument/2006/relationships/viewProps" Target="viewProps.xml"/>
  
  
  <Relationship Id="rId2" Type="http://schemas.openxmlformats.org/officeDocument/2006/relationships/slide" Target="slides/slide1.xml"/>
  
  
  <Relationship Id="rId1" Type="http://schemas.openxmlformats.org/officeDocument/2006/relationships/slideMaster" Target="slideMasters/slideMaster1.xml"/>
  
  
  <Relationship Id="rId6" Type="http://schemas.openxmlformats.org/officeDocument/2006/relationships/slide" Target="slides/slide5.xml"/>
  
  
  <Relationship Id="rId11" Type="http://schemas.openxmlformats.org/officeDocument/2006/relationships/presProps" Target="presProps.xml"/>
  
  
  <Relationship Id="rId5" Type="http://schemas.openxmlformats.org/officeDocument/2006/relationships/slide" Target="slides/slide4.xml"/>
  
  
  <Relationship Id="rId10" Type="http://schemas.openxmlformats.org/officeDocument/2006/relationships/notesMaster" Target="notesMasters/notesMaster1.xml"/>
  
  
  <Relationship Id="rId4" Type="http://schemas.openxmlformats.org/officeDocument/2006/relationships/slide" Target="slides/slide3.xml"/>
  
  
  <Relationship Id="rId9" Type="http://schemas.openxmlformats.org/officeDocument/2006/relationships/slide" Target="slides/slide8.xml"/>
  
  
  <Relationship Id="rId14" Type="http://schemas.openxmlformats.org/officeDocument/2006/relationships/tableStyles" Target="tableStyles.xml"/>
  
  
  <Relationship Id="rId15" Type="http://schemas.openxmlformats.org/officeDocument/2006/relationships/slide" Target="slides/slide9.xml"/>
  
  
  <Relationship Id="rId16" Type="http://schemas.openxmlformats.org/officeDocument/2006/relationships/slide" Target="slides/slide10.xml"/>
  
  
  <Relationship Id="rId17" Type="http://schemas.openxmlformats.org/officeDocument/2006/relationships/slide" Target="slides/slide11.xml"/>
  

</Relationships>

</file>

<file path=ppt/notesMasters/_rels/notesMaster1.xml.rels><?xml version="1.0" encoding="utf-8"?>
<Relationships xmlns="http://schemas.openxmlformats.org/package/2006/relationships">
  
  
  <Relationship Id="rId1" Type="http://schemas.openxmlformats.org/officeDocument/2006/relationships/theme" Target="../theme/theme2.xml"/>
  

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016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
<Relationships xmlns="http://schemas.openxmlformats.org/package/2006/relationships">
  
  
  <Relationship Id="rId2" Type="http://schemas.openxmlformats.org/officeDocument/2006/relationships/slide" Target="../slides/slide1.xml"/>
  
  
  <Relationship Id="rId1" Type="http://schemas.openxmlformats.org/officeDocument/2006/relationships/notesMaster" Target="../notesMasters/notesMaster1.xml"/>
  

</Relationships>

</file>

<file path=ppt/notesSlides/_rels/notesSlide2.xml.rels><?xml version="1.0" encoding="utf-8"?>
<Relationships xmlns="http://schemas.openxmlformats.org/package/2006/relationships">
  
  
  <Relationship Id="rId2" Type="http://schemas.openxmlformats.org/officeDocument/2006/relationships/slide" Target="../slides/slide2.xml"/>
  
  
  <Relationship Id="rId1" Type="http://schemas.openxmlformats.org/officeDocument/2006/relationships/notesMaster" Target="../notesMasters/notesMaster1.xml"/>
  

</Relationships>

</file>

<file path=ppt/notesSlides/_rels/notesSlide3.xml.rels><?xml version="1.0" encoding="utf-8"?>
<Relationships xmlns="http://schemas.openxmlformats.org/package/2006/relationships">
  
  
  <Relationship Id="rId2" Type="http://schemas.openxmlformats.org/officeDocument/2006/relationships/slide" Target="../slides/slide3.xml"/>
  
  
  <Relationship Id="rId1" Type="http://schemas.openxmlformats.org/officeDocument/2006/relationships/notesMaster" Target="../notesMasters/notesMaster1.xml"/>
  

</Relationships>

</file>

<file path=ppt/notesSlides/_rels/notesSlide4.xml.rels><?xml version="1.0" encoding="utf-8"?>
<Relationships xmlns="http://schemas.openxmlformats.org/package/2006/relationships">
  
  
  <Relationship Id="rId2" Type="http://schemas.openxmlformats.org/officeDocument/2006/relationships/slide" Target="../slides/slide4.xml"/>
  
  
  <Relationship Id="rId1" Type="http://schemas.openxmlformats.org/officeDocument/2006/relationships/notesMaster" Target="../notesMasters/notesMaster1.xml"/>
  

</Relationships>

</file>

<file path=ppt/notesSlides/_rels/notesSlide5.xml.rels><?xml version="1.0" encoding="utf-8"?>
<Relationships xmlns="http://schemas.openxmlformats.org/package/2006/relationships">
  
  
  <Relationship Id="rId2" Type="http://schemas.openxmlformats.org/officeDocument/2006/relationships/slide" Target="../slides/slide5.xml"/>
  
  
  <Relationship Id="rId1" Type="http://schemas.openxmlformats.org/officeDocument/2006/relationships/notesMaster" Target="../notesMasters/notesMaster1.xml"/>
  

</Relationships>

</file>

<file path=ppt/notesSlides/_rels/notesSlide6.xml.rels><?xml version="1.0" encoding="utf-8"?>
<Relationships xmlns="http://schemas.openxmlformats.org/package/2006/relationships">
  
  
  <Relationship Id="rId2" Type="http://schemas.openxmlformats.org/officeDocument/2006/relationships/slide" Target="../slides/slide6.xml"/>
  
  
  <Relationship Id="rId1" Type="http://schemas.openxmlformats.org/officeDocument/2006/relationships/notesMaster" Target="../notesMasters/notesMaster1.xml"/>
  

</Relationships>

</file>

<file path=ppt/notesSlides/_rels/notesSlide7.xml.rels><?xml version="1.0" encoding="utf-8"?>
<Relationships xmlns="http://schemas.openxmlformats.org/package/2006/relationships">
  
  
  <Relationship Id="rId2" Type="http://schemas.openxmlformats.org/officeDocument/2006/relationships/slide" Target="../slides/slide7.xml"/>
  
  
  <Relationship Id="rId1" Type="http://schemas.openxmlformats.org/officeDocument/2006/relationships/notesMaster" Target="../notesMasters/notesMaster1.xml"/>
  

</Relationships>

</file>

<file path=ppt/notesSlides/_rels/notesSlide8.xml.rels><?xml version="1.0" encoding="utf-8"?>
<Relationships xmlns="http://schemas.openxmlformats.org/package/2006/relationships">
  
  
  <Relationship Id="rId2" Type="http://schemas.openxmlformats.org/officeDocument/2006/relationships/slide" Target="../slides/slide8.xml"/>
  
  
  <Relationship Id="rId1" Type="http://schemas.openxmlformats.org/officeDocument/2006/relationships/notesMaster" Target="../notesMasters/notesMaster1.xml"/>
  

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054591"/>
      </p:ext>
    </p:extLst>
  </p:cSld>
  <p:clrMapOvr>
    <a:masterClrMapping/>
  </p:clrMapOvr>
</p:notes>
</file>

<file path=ppt/slideLayouts/_rels/slideLayout1.xml.rels><?xml version="1.0" encoding="utf-8"?>
<Relationships xmlns="http://schemas.openxmlformats.org/package/2006/relationships">
  
  
  <Relationship Id="rId1" Type="http://schemas.openxmlformats.org/officeDocument/2006/relationships/slideMaster" Target="../slideMasters/slideMaster1.xml"/>
  

</Relationships>

</file>

<file path=ppt/slideLayouts/_rels/slideLayout2.xml.rels><?xml version="1.0" encoding="utf-8"?>
<Relationships xmlns="http://schemas.openxmlformats.org/package/2006/relationships">
  
  
  <Relationship Id="rId1" Type="http://schemas.openxmlformats.org/officeDocument/2006/relationships/slideMaster" Target="../slideMasters/slideMaster1.xml"/>
  

</Relationships>

</file>

<file path=ppt/slideLayouts/_rels/slideLayout3.xml.rels><?xml version="1.0" encoding="utf-8"?>
<Relationships xmlns="http://schemas.openxmlformats.org/package/2006/relationships">
  
  
  <Relationship Id="rId1" Type="http://schemas.openxmlformats.org/officeDocument/2006/relationships/slideMaster" Target="../slideMasters/slideMaster1.xml"/>
  

</Relationships>

</file>

<file path=ppt/slideLayouts/_rels/slideLayout4.xml.rels><?xml version="1.0" encoding="utf-8"?>
<Relationships xmlns="http://schemas.openxmlformats.org/package/2006/relationships">
  
  
  <Relationship Id="rId1" Type="http://schemas.openxmlformats.org/officeDocument/2006/relationships/slideMaster" Target="../slideMasters/slideMaster1.xml"/>
  

</Relationships>

</file>

<file path=ppt/slideLayouts/_rels/slideLayout5.xml.rels><?xml version="1.0" encoding="utf-8"?>
<Relationships xmlns="http://schemas.openxmlformats.org/package/2006/relationships">
  
  
  <Relationship Id="rId1" Type="http://schemas.openxmlformats.org/officeDocument/2006/relationships/slideMaster" Target="../slideMasters/slideMaster1.xml"/>
  

</Relationships>

</file>

<file path=ppt/slideLayouts/_rels/slideLayout6.xml.rels><?xml version="1.0" encoding="utf-8"?>
<Relationships xmlns="http://schemas.openxmlformats.org/package/2006/relationships">
  
  
  <Relationship Id="rId1" Type="http://schemas.openxmlformats.org/officeDocument/2006/relationships/slideMaster" Target="../slideMasters/slideMaster1.xml"/>
  

</Relationships>

</file>

<file path=ppt/slideLayouts/_rels/slideLayout7.xml.rels><?xml version="1.0" encoding="utf-8"?>
<Relationships xmlns="http://schemas.openxmlformats.org/package/2006/relationships">
  
  
  <Relationship Id="rId1" Type="http://schemas.openxmlformats.org/officeDocument/2006/relationships/slideMaster" Target="../slideMasters/slideMaster1.xml"/>
  

</Relationships>

</file>

<file path=ppt/slideLayouts/_rels/slideLayout8.xml.rels><?xml version="1.0" encoding="utf-8"?>
<Relationships xmlns="http://schemas.openxmlformats.org/package/2006/relationships">
  
  
  <Relationship Id="rId1" Type="http://schemas.openxmlformats.org/officeDocument/2006/relationships/slideMaster" Target="../slideMasters/slideMaster1.xml"/>
  

</Relationships>

</file>

<file path=ppt/slideLayouts/_rels/slideLayout9.xml.rels><?xml version="1.0" encoding="utf-8"?>
<Relationships xmlns="http://schemas.openxmlformats.org/package/2006/relationships">
  
  
  <Relationship Id="rId1" Type="http://schemas.openxmlformats.org/officeDocument/2006/relationships/slideMaster" Target="../slideMasters/slideMaster1.xml"/>
  

</Relationships>

</file>

<file path=ppt/slideLayouts/_rels/slideLayout10.xml.rels><?xml version="1.0" encoding="utf-8"?>
<Relationships xmlns="http://schemas.openxmlformats.org/package/2006/relationships">
  
  
  <Relationship Id="rId1" Type="http://schemas.openxmlformats.org/officeDocument/2006/relationships/slideMaster" Target="../slideMasters/slideMaster1.xml"/>
  

</Relationships>

</file>

<file path=ppt/slideLayouts/_rels/slideLayout11.xml.rels><?xml version="1.0" encoding="utf-8"?>
<Relationships xmlns="http://schemas.openxmlformats.org/package/2006/relationships">
  
  
  <Relationship Id="rId1" Type="http://schemas.openxmlformats.org/officeDocument/2006/relationships/slideMaster" Target="../slideMasters/slideMaster1.xml"/>
  

</Relationships>

</file>

<file path=ppt/slideLayouts/_rels/slideLayout12.xml.rels><?xml version="1.0" encoding="utf-8"?>
<Relationships xmlns="http://schemas.openxmlformats.org/package/2006/relationships">
  
  
  <Relationship Id="rId1" Type="http://schemas.openxmlformats.org/officeDocument/2006/relationships/slideMaster" Target="../slideMasters/slideMaster1.xml"/>
  
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2628" y="577850"/>
            <a:ext cx="8086725" cy="25146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600" spc="-90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0634" y="3155157"/>
            <a:ext cx="6921151" cy="1234440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262626"/>
                </a:solidFill>
                <a:latin typeface="+mj-lt"/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88929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105146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2628" y="575564"/>
            <a:ext cx="8085582" cy="2516886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b="0" baseline="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634" y="3153157"/>
            <a:ext cx="6919722" cy="12344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53096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492" y="1498601"/>
            <a:ext cx="3497580" cy="282549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8498" y="1498601"/>
            <a:ext cx="3497580" cy="282549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20829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1530350"/>
            <a:ext cx="3497580" cy="542550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492" y="2064813"/>
            <a:ext cx="3497580" cy="24003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05706" y="1528826"/>
            <a:ext cx="3497580" cy="541782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05706" y="2063243"/>
            <a:ext cx="3497580" cy="24003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24783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45269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14528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6196053" y="406712"/>
            <a:ext cx="2537460" cy="144018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00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571500"/>
            <a:ext cx="4572000" cy="34290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06987" y="1883860"/>
            <a:ext cx="2548890" cy="2345240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3670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6918" y="4064001"/>
            <a:ext cx="8085582" cy="459962"/>
          </a:xfrm>
        </p:spPr>
        <p:txBody>
          <a:bodyPr anchor="b">
            <a:normAutofit/>
          </a:bodyPr>
          <a:lstStyle>
            <a:lvl1pPr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9144000" cy="3998214"/>
          </a:xfrm>
          <a:solidFill>
            <a:schemeClr val="accent1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spcBef>
                <a:spcPts val="600"/>
              </a:spcBef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7492" y="4432301"/>
            <a:ext cx="6922008" cy="40005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0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8266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33421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7963" y="521494"/>
            <a:ext cx="1971675" cy="36004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8644" y="535782"/>
            <a:ext cx="5800725" cy="4050506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01944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7563743"/>
      </p:ext>
    </p:extLst>
  </p:cSld>
  <p:clrMapOvr>
    <a:masterClrMapping/>
  </p:clrMapOvr>
</p:sldLayout>
</file>

<file path=ppt/slideMasters/_rels/slideMaster1.xml.rels><?xml version="1.0" encoding="utf-8"?>
<Relationships xmlns="http://schemas.openxmlformats.org/package/2006/relationships">
  
  
  <Relationship Id="rId8" Type="http://schemas.openxmlformats.org/officeDocument/2006/relationships/slideLayout" Target="../slideLayouts/slideLayout8.xml"/>
  
  
  <Relationship Id="rId13" Type="http://schemas.openxmlformats.org/officeDocument/2006/relationships/theme" Target="../theme/theme1.xml"/>
  
  
  <Relationship Id="rId3" Type="http://schemas.openxmlformats.org/officeDocument/2006/relationships/slideLayout" Target="../slideLayouts/slideLayout3.xml"/>
  
  
  <Relationship Id="rId7" Type="http://schemas.openxmlformats.org/officeDocument/2006/relationships/slideLayout" Target="../slideLayouts/slideLayout7.xml"/>
  
  
  <Relationship Id="rId12" Type="http://schemas.openxmlformats.org/officeDocument/2006/relationships/slideLayout" Target="../slideLayouts/slideLayout12.xml"/>
  
  
  <Relationship Id="rId2" Type="http://schemas.openxmlformats.org/officeDocument/2006/relationships/slideLayout" Target="../slideLayouts/slideLayout2.xml"/>
  
  
  <Relationship Id="rId1" Type="http://schemas.openxmlformats.org/officeDocument/2006/relationships/slideLayout" Target="../slideLayouts/slideLayout1.xml"/>
  
  
  <Relationship Id="rId6" Type="http://schemas.openxmlformats.org/officeDocument/2006/relationships/slideLayout" Target="../slideLayouts/slideLayout6.xml"/>
  
  
  <Relationship Id="rId11" Type="http://schemas.openxmlformats.org/officeDocument/2006/relationships/slideLayout" Target="../slideLayouts/slideLayout11.xml"/>
  
  
  <Relationship Id="rId5" Type="http://schemas.openxmlformats.org/officeDocument/2006/relationships/slideLayout" Target="../slideLayouts/slideLayout5.xml"/>
  
  
  <Relationship Id="rId10" Type="http://schemas.openxmlformats.org/officeDocument/2006/relationships/slideLayout" Target="../slideLayouts/slideLayout10.xml"/>
  
  
  <Relationship Id="rId4" Type="http://schemas.openxmlformats.org/officeDocument/2006/relationships/slideLayout" Target="../slideLayouts/slideLayout4.xml"/>
  
  
  <Relationship Id="rId9" Type="http://schemas.openxmlformats.org/officeDocument/2006/relationships/slideLayout" Target="../slideLayouts/slideLayout9.xml"/>
  
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2919" y="374650"/>
            <a:ext cx="8079581" cy="12436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492" y="1508760"/>
            <a:ext cx="8065294" cy="28246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4809335"/>
            <a:ext cx="3086100" cy="171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2/22/2026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0" y="4916023"/>
            <a:ext cx="3771900" cy="1714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945" y="4407310"/>
            <a:ext cx="2194560" cy="104777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725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7363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23" r:id="rId1"/>
    <p:sldLayoutId id="2147484124" r:id="rId2"/>
    <p:sldLayoutId id="2147484125" r:id="rId3"/>
    <p:sldLayoutId id="2147484126" r:id="rId4"/>
    <p:sldLayoutId id="2147484127" r:id="rId5"/>
    <p:sldLayoutId id="2147484128" r:id="rId6"/>
    <p:sldLayoutId id="2147484129" r:id="rId7"/>
    <p:sldLayoutId id="2147484130" r:id="rId8"/>
    <p:sldLayoutId id="2147484131" r:id="rId9"/>
    <p:sldLayoutId id="2147484132" r:id="rId10"/>
    <p:sldLayoutId id="2147484133" r:id="rId11"/>
    <p:sldLayoutId id="2147484134" r:id="rId12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4050" kern="1200" spc="-9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85000"/>
        </a:lnSpc>
        <a:spcBef>
          <a:spcPts val="975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260604" indent="-257175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411480" indent="-41148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5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617220" indent="-61722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822960" indent="-82296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9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0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2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3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
  
  
  <Relationship Id="rId3" Type="http://schemas.openxmlformats.org/officeDocument/2006/relationships/image" Target="../media/image1.png"/>
  
  
  <Relationship Id="rId2" Type="http://schemas.openxmlformats.org/officeDocument/2006/relationships/notesSlide" Target="../notesSlides/notesSlide1.xml"/>
  
  
  <Relationship Id="rId1" Type="http://schemas.openxmlformats.org/officeDocument/2006/relationships/slideLayout" Target="../slideLayouts/slideLayout12.xml"/>
  

</Relationships>

</file>

<file path=ppt/slides/_rels/slide2.xml.rels><?xml version="1.0" encoding="utf-8"?>
<Relationships xmlns="http://schemas.openxmlformats.org/package/2006/relationships">
  
  
  <Relationship Id="rId3" Type="http://schemas.openxmlformats.org/officeDocument/2006/relationships/image" Target="../media/image2.png"/>
  
  
  <Relationship Id="rId2" Type="http://schemas.openxmlformats.org/officeDocument/2006/relationships/notesSlide" Target="../notesSlides/notesSlide2.xml"/>
  
  
  <Relationship Id="rId1" Type="http://schemas.openxmlformats.org/officeDocument/2006/relationships/slideLayout" Target="../slideLayouts/slideLayout12.xml"/>
  

</Relationships>

</file>

<file path=ppt/slides/_rels/slide3.xml.rels><?xml version="1.0" encoding="utf-8"?>
<Relationships xmlns="http://schemas.openxmlformats.org/package/2006/relationships">
  
  
  <Relationship Id="rId3" Type="http://schemas.openxmlformats.org/officeDocument/2006/relationships/image" Target="../media/image3.png"/>
  
  
  <Relationship Id="rId2" Type="http://schemas.openxmlformats.org/officeDocument/2006/relationships/notesSlide" Target="../notesSlides/notesSlide3.xml"/>
  
  
  <Relationship Id="rId1" Type="http://schemas.openxmlformats.org/officeDocument/2006/relationships/slideLayout" Target="../slideLayouts/slideLayout12.xml"/>
  

</Relationships>

</file>

<file path=ppt/slides/_rels/slide4.xml.rels><?xml version="1.0" encoding="utf-8"?>
<Relationships xmlns="http://schemas.openxmlformats.org/package/2006/relationships">
  
  
  <Relationship Id="rId3" Type="http://schemas.openxmlformats.org/officeDocument/2006/relationships/image" Target="../media/image4.png"/>
  
  
  <Relationship Id="rId2" Type="http://schemas.openxmlformats.org/officeDocument/2006/relationships/notesSlide" Target="../notesSlides/notesSlide4.xml"/>
  
  
  <Relationship Id="rId1" Type="http://schemas.openxmlformats.org/officeDocument/2006/relationships/slideLayout" Target="../slideLayouts/slideLayout12.xml"/>
  

</Relationships>

</file>

<file path=ppt/slides/_rels/slide5.xml.rels><?xml version="1.0" encoding="utf-8"?>
<Relationships xmlns="http://schemas.openxmlformats.org/package/2006/relationships">
  
  
  <Relationship Id="rId3" Type="http://schemas.openxmlformats.org/officeDocument/2006/relationships/image" Target="../media/image5.png"/>
  
  
  <Relationship Id="rId2" Type="http://schemas.openxmlformats.org/officeDocument/2006/relationships/notesSlide" Target="../notesSlides/notesSlide5.xml"/>
  
  
  <Relationship Id="rId1" Type="http://schemas.openxmlformats.org/officeDocument/2006/relationships/slideLayout" Target="../slideLayouts/slideLayout12.xml"/>
  

</Relationships>

</file>

<file path=ppt/slides/_rels/slide6.xml.rels><?xml version="1.0" encoding="utf-8"?>
<Relationships xmlns="http://schemas.openxmlformats.org/package/2006/relationships">
  
  
  <Relationship Id="rId3" Type="http://schemas.openxmlformats.org/officeDocument/2006/relationships/image" Target="../media/image6.png"/>
  
  
  <Relationship Id="rId2" Type="http://schemas.openxmlformats.org/officeDocument/2006/relationships/notesSlide" Target="../notesSlides/notesSlide6.xml"/>
  
  
  <Relationship Id="rId1" Type="http://schemas.openxmlformats.org/officeDocument/2006/relationships/slideLayout" Target="../slideLayouts/slideLayout12.xml"/>
  

</Relationships>

</file>

<file path=ppt/slides/_rels/slide7.xml.rels><?xml version="1.0" encoding="utf-8"?>
<Relationships xmlns="http://schemas.openxmlformats.org/package/2006/relationships">
  
  
  <Relationship Id="rId3" Type="http://schemas.openxmlformats.org/officeDocument/2006/relationships/image" Target="../media/image7.png"/>
  
  
  <Relationship Id="rId2" Type="http://schemas.openxmlformats.org/officeDocument/2006/relationships/notesSlide" Target="../notesSlides/notesSlide7.xml"/>
  
  
  <Relationship Id="rId1" Type="http://schemas.openxmlformats.org/officeDocument/2006/relationships/slideLayout" Target="../slideLayouts/slideLayout12.xml"/>
  
  
  <Relationship Id="rId4" Type="http://schemas.openxmlformats.org/officeDocument/2006/relationships/image" Target="../media/image8.png"/>
  

</Relationships>

</file>

<file path=ppt/slides/_rels/slide8.xml.rels><?xml version="1.0" encoding="utf-8"?>
<Relationships xmlns="http://schemas.openxmlformats.org/package/2006/relationships">
  
  
  <Relationship Id="rId3" Type="http://schemas.openxmlformats.org/officeDocument/2006/relationships/image" Target="../media/image1.png"/>
  
  
  <Relationship Id="rId2" Type="http://schemas.openxmlformats.org/officeDocument/2006/relationships/notesSlide" Target="../notesSlides/notesSlide8.xml"/>
  
  
  <Relationship Id="rId1" Type="http://schemas.openxmlformats.org/officeDocument/2006/relationships/slideLayout" Target="../slideLayouts/slideLayout12.xml"/>
  

</Relationships>

</file>

<file path=ppt/slides/_rels/slide9.xml.rels><?xml version="1.0" encoding="utf-8"?>
<Relationships xmlns="http://schemas.openxmlformats.org/package/2006/relationships">
  
  
  <Relationship Id="rId3" Type="http://schemas.openxmlformats.org/officeDocument/2006/relationships/image" Target="../media/image2.png"/>
  

  <Relationship Id="rId1" Type="http://schemas.openxmlformats.org/officeDocument/2006/relationships/slideLayout" Target="../slideLayouts/slideLayout12.xml"/>
  

</Relationships>

</file>

<file path=ppt/slides/_rels/slide10.xml.rels><?xml version="1.0" encoding="utf-8"?>
<Relationships xmlns="http://schemas.openxmlformats.org/package/2006/relationships">
  
  
  <Relationship Id="rId3" Type="http://schemas.openxmlformats.org/officeDocument/2006/relationships/image" Target="../media/image2.png"/>
  

  <Relationship Id="rId1" Type="http://schemas.openxmlformats.org/officeDocument/2006/relationships/slideLayout" Target="../slideLayouts/slideLayout12.xml"/>
  

</Relationships>

</file>

<file path=ppt/slides/_rels/slide11.xml.rels><?xml version="1.0" encoding="utf-8"?>
<Relationships xmlns="http://schemas.openxmlformats.org/package/2006/relationships">
  
  
  <Relationship Id="rId3" Type="http://schemas.openxmlformats.org/officeDocument/2006/relationships/image" Target="../media/image2.png"/>
  

  <Relationship Id="rId1" Type="http://schemas.openxmlformats.org/officeDocument/2006/relationships/slideLayout" Target="../slideLayouts/slideLayout12.xml"/>
  
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" name="Shape 1"/>
          <p:cNvSpPr/>
          <p:nvPr/>
        </p:nvSpPr>
        <p:spPr>
          <a:xfrm>
            <a:off x="5072105" y="-205740"/>
            <a:ext cx="4572000" cy="4572000"/>
          </a:xfrm>
          <a:prstGeom prst="ellipse">
            <a:avLst/>
          </a:prstGeom>
          <a:solidFill>
            <a:schemeClr val="tx2">
              <a:alpha val="30000"/>
            </a:schemeClr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83234" y="2267805"/>
            <a:ext cx="2743200" cy="2743200"/>
          </a:xfrm>
          <a:prstGeom prst="ellipse">
            <a:avLst/>
          </a:prstGeom>
          <a:solidFill>
            <a:srgbClr val="00C896">
              <a:alpha val="15000"/>
            </a:srgbClr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35587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164671"/>
            <a:ext cx="2011680" cy="2743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164671"/>
            <a:ext cx="2011680" cy="3312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200" dirty="0" smtClean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TRACKER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256032" y="1922105"/>
            <a:ext cx="4170426" cy="272453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Keeping </a:t>
            </a: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</a:t>
            </a:r>
            <a:endParaRPr lang="en-US" sz="4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Finances Safe</a:t>
            </a:r>
            <a:endParaRPr lang="en-US" sz="4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Reliable</a:t>
            </a:r>
            <a:endParaRPr lang="en-US" sz="4600" dirty="0"/>
          </a:p>
        </p:txBody>
      </p:sp>
      <p:sp>
        <p:nvSpPr>
          <p:cNvPr id="10" name="Shape 7"/>
          <p:cNvSpPr/>
          <p:nvPr/>
        </p:nvSpPr>
        <p:spPr>
          <a:xfrm>
            <a:off x="6949440" y="594360"/>
            <a:ext cx="1920240" cy="708660"/>
          </a:xfrm>
          <a:prstGeom prst="rect">
            <a:avLst/>
          </a:prstGeom>
          <a:solidFill>
            <a:srgbClr val="1A2F4A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49440" y="594360"/>
            <a:ext cx="109728" cy="70866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2" name="Text 9"/>
          <p:cNvSpPr/>
          <p:nvPr/>
        </p:nvSpPr>
        <p:spPr>
          <a:xfrm>
            <a:off x="7150608" y="685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8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949440" y="1645920"/>
            <a:ext cx="1920240" cy="731520"/>
          </a:xfrm>
          <a:prstGeom prst="rect">
            <a:avLst/>
          </a:prstGeom>
          <a:solidFill>
            <a:srgbClr val="1A2F4A"/>
          </a:solidFill>
          <a:ln w="1905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949440" y="1645920"/>
            <a:ext cx="109728" cy="7315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6" name="Text 13"/>
          <p:cNvSpPr/>
          <p:nvPr/>
        </p:nvSpPr>
        <p:spPr>
          <a:xfrm>
            <a:off x="7150608" y="1737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150608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Research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949440" y="2697480"/>
            <a:ext cx="1920240" cy="809337"/>
          </a:xfrm>
          <a:prstGeom prst="rect">
            <a:avLst/>
          </a:prstGeom>
          <a:solidFill>
            <a:srgbClr val="1A2F4A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949440" y="2697480"/>
            <a:ext cx="109728" cy="809337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0" name="Text 17"/>
          <p:cNvSpPr/>
          <p:nvPr/>
        </p:nvSpPr>
        <p:spPr>
          <a:xfrm>
            <a:off x="7150608" y="27889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Flows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150608" y="3154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150608" y="38404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150608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6" name="Rectangle 25"/>
          <p:cNvSpPr/>
          <p:nvPr/>
        </p:nvSpPr>
        <p:spPr>
          <a:xfrm>
            <a:off x="1154391" y="271194"/>
            <a:ext cx="28327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GEN’ET</a:t>
            </a:r>
            <a:endParaRPr lang="en-US" sz="360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480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F4F7FB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" y="2743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7472" y="102412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47472" y="14173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Problem Statement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47472" y="1874520"/>
            <a:ext cx="2971800" cy="27432"/>
          </a:xfrm>
          <a:prstGeom prst="rect">
            <a:avLst/>
          </a:prstGeom>
          <a:solidFill>
            <a:srgbClr val="00C896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347472" y="201168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1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Tracker is a Vue.js 3 personal finance app built with the Composition API. It helps individuals and families track, categorize, and manage daily spending — with zero backend dependency.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70332" y="3575304"/>
            <a:ext cx="2971800" cy="868680"/>
          </a:xfrm>
          <a:prstGeom prst="rect">
            <a:avLst/>
          </a:prstGeom>
          <a:solidFill>
            <a:srgbClr val="1E4976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3493008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i="1" dirty="0" smtClean="0">
                <a:solidFill>
                  <a:srgbClr val="4FC3F7"/>
                </a:solidFill>
                <a:latin typeface="Calibri" pitchFamily="34" charset="0"/>
                <a:cs typeface="Calibri" pitchFamily="34" charset="-120"/>
              </a:rPr>
              <a:t xml:space="preserve">Why </a:t>
            </a:r>
            <a:r>
              <a:rPr lang="en-US" sz="1050" i="1" dirty="0" smtClean="0">
                <a:solidFill>
                  <a:srgbClr val="4FC3F7"/>
                </a:solidFill>
                <a:latin typeface="Calibri" pitchFamily="34" charset="0"/>
                <a:cs typeface="Calibri" pitchFamily="34" charset="-120"/>
              </a:rPr>
              <a:t>should one have a an Expense Tracker?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886200" y="38404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FF5B79"/>
          </a:solidFill>
          <a:ln w="12700">
            <a:solidFill>
              <a:srgbClr val="FF5B7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86200" y="38404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886200" y="713232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people fail at budgeting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3840480" y="1188720"/>
            <a:ext cx="5074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40480" y="1188720"/>
            <a:ext cx="73152" cy="548640"/>
          </a:xfrm>
          <a:prstGeom prst="rect">
            <a:avLst/>
          </a:prstGeom>
          <a:solidFill>
            <a:srgbClr val="FF5B79"/>
          </a:solidFill>
          <a:ln/>
        </p:spPr>
      </p:sp>
      <p:sp>
        <p:nvSpPr>
          <p:cNvPr id="16" name="Text 13"/>
          <p:cNvSpPr/>
          <p:nvPr/>
        </p:nvSpPr>
        <p:spPr>
          <a:xfrm>
            <a:off x="3977640" y="1188720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😰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407408" y="1188720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to log expenses after just 2–3 days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840480" y="1847088"/>
            <a:ext cx="5074920" cy="548640"/>
          </a:xfrm>
          <a:prstGeom prst="rect">
            <a:avLst/>
          </a:prstGeom>
          <a:solidFill>
            <a:srgbClr val="F0F4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0" y="1847088"/>
            <a:ext cx="73152" cy="548640"/>
          </a:xfrm>
          <a:prstGeom prst="rect">
            <a:avLst/>
          </a:prstGeom>
          <a:solidFill>
            <a:srgbClr val="FF5B79"/>
          </a:solidFill>
          <a:ln/>
        </p:spPr>
      </p:sp>
      <p:sp>
        <p:nvSpPr>
          <p:cNvPr id="20" name="Text 17"/>
          <p:cNvSpPr/>
          <p:nvPr/>
        </p:nvSpPr>
        <p:spPr>
          <a:xfrm>
            <a:off x="3977640" y="1847088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 smtClean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4407408" y="1847088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Spreadsheets are too complex and time-consuming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840480" y="2505456"/>
            <a:ext cx="5074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840480" y="2505456"/>
            <a:ext cx="73152" cy="548640"/>
          </a:xfrm>
          <a:prstGeom prst="rect">
            <a:avLst/>
          </a:prstGeom>
          <a:solidFill>
            <a:srgbClr val="FF5B79"/>
          </a:solidFill>
          <a:ln/>
        </p:spPr>
      </p:sp>
      <p:sp>
        <p:nvSpPr>
          <p:cNvPr id="24" name="Text 21"/>
          <p:cNvSpPr/>
          <p:nvPr/>
        </p:nvSpPr>
        <p:spPr>
          <a:xfrm>
            <a:off x="3977640" y="2505456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🏦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4407408" y="2505456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apps show debits but give no spending context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3840480" y="3163824"/>
            <a:ext cx="5074920" cy="548640"/>
          </a:xfrm>
          <a:prstGeom prst="rect">
            <a:avLst/>
          </a:prstGeom>
          <a:solidFill>
            <a:srgbClr val="F0F4FA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840480" y="3163824"/>
            <a:ext cx="73152" cy="548640"/>
          </a:xfrm>
          <a:prstGeom prst="rect">
            <a:avLst/>
          </a:prstGeom>
          <a:solidFill>
            <a:srgbClr val="FF5B79"/>
          </a:solidFill>
          <a:ln/>
        </p:spPr>
      </p:sp>
      <p:sp>
        <p:nvSpPr>
          <p:cNvPr id="28" name="Text 25"/>
          <p:cNvSpPr/>
          <p:nvPr/>
        </p:nvSpPr>
        <p:spPr>
          <a:xfrm>
            <a:off x="3977640" y="3163824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😟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4407408" y="3163824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financial anxiety without visibility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3840480" y="3822192"/>
            <a:ext cx="5074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840480" y="3822192"/>
            <a:ext cx="73152" cy="548640"/>
          </a:xfrm>
          <a:prstGeom prst="rect">
            <a:avLst/>
          </a:prstGeom>
          <a:solidFill>
            <a:srgbClr val="FF5B79"/>
          </a:solidFill>
          <a:ln/>
        </p:spPr>
      </p:sp>
      <p:sp>
        <p:nvSpPr>
          <p:cNvPr id="32" name="Text 29"/>
          <p:cNvSpPr/>
          <p:nvPr/>
        </p:nvSpPr>
        <p:spPr>
          <a:xfrm>
            <a:off x="3977640" y="3822192"/>
            <a:ext cx="411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🧾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4407408" y="3822192"/>
            <a:ext cx="4434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receipts — no record of past spending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78992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82880"/>
            <a:ext cx="475488" cy="4754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87552" y="13716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7552" y="137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87552" y="429768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Vision &amp; Design Pillars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87552" y="713232"/>
            <a:ext cx="78638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8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core principles — design &amp; implementation decisions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01168" y="1078992"/>
            <a:ext cx="1645920" cy="3858768"/>
          </a:xfrm>
          <a:prstGeom prst="rect">
            <a:avLst/>
          </a:prstGeom>
          <a:solidFill>
            <a:srgbClr val="FFFFFF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01168" y="1078992"/>
            <a:ext cx="1645920" cy="5029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10" name="Text 7"/>
          <p:cNvSpPr/>
          <p:nvPr/>
        </p:nvSpPr>
        <p:spPr>
          <a:xfrm>
            <a:off x="201168" y="107899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92608" y="16642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92608" y="2011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10 seconds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66928" y="2304288"/>
            <a:ext cx="914400" cy="27432"/>
          </a:xfrm>
          <a:prstGeom prst="rect">
            <a:avLst/>
          </a:prstGeom>
          <a:solidFill>
            <a:srgbClr val="FFD166">
              <a:alpha val="5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292608" y="2377440"/>
            <a:ext cx="1463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logging under 10 sec. '+' button always visible. v-model reactive bindings for instant input.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1975104" y="1078992"/>
            <a:ext cx="1645920" cy="3858768"/>
          </a:xfrm>
          <a:prstGeom prst="rect">
            <a:avLst/>
          </a:prstGeom>
          <a:solidFill>
            <a:srgbClr val="FFFFFF"/>
          </a:solidFill>
          <a:ln w="1905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1975104" y="1078992"/>
            <a:ext cx="1645920" cy="5029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7" name="Text 14"/>
          <p:cNvSpPr/>
          <p:nvPr/>
        </p:nvSpPr>
        <p:spPr>
          <a:xfrm>
            <a:off x="1975104" y="107899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2066544" y="16642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066544" y="2011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insight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2340864" y="2304288"/>
            <a:ext cx="914400" cy="27432"/>
          </a:xfrm>
          <a:prstGeom prst="rect">
            <a:avLst/>
          </a:prstGeom>
          <a:solidFill>
            <a:srgbClr val="4FC3F7">
              <a:alpha val="50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2066544" y="2377440"/>
            <a:ext cx="1463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glance shows balance, income &amp; expenses. computed() drives all reactive calculations.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749040" y="1078992"/>
            <a:ext cx="1645920" cy="38587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749040" y="1078992"/>
            <a:ext cx="1645920" cy="5029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4" name="Text 21"/>
          <p:cNvSpPr/>
          <p:nvPr/>
        </p:nvSpPr>
        <p:spPr>
          <a:xfrm>
            <a:off x="3749040" y="107899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3840480" y="16642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840480" y="2011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data loss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114800" y="2304288"/>
            <a:ext cx="914400" cy="27432"/>
          </a:xfrm>
          <a:prstGeom prst="rect">
            <a:avLst/>
          </a:prstGeom>
          <a:solidFill>
            <a:srgbClr val="00C896">
              <a:alpha val="50000"/>
            </a:srgbClr>
          </a:solidFill>
          <a:ln/>
        </p:spPr>
      </p:sp>
      <p:sp>
        <p:nvSpPr>
          <p:cNvPr id="28" name="Text 25"/>
          <p:cNvSpPr/>
          <p:nvPr/>
        </p:nvSpPr>
        <p:spPr>
          <a:xfrm>
            <a:off x="3840480" y="2377440"/>
            <a:ext cx="1463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persists all data. onMounted() restores state on every app launch.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5522976" y="1078992"/>
            <a:ext cx="1645920" cy="3858768"/>
          </a:xfrm>
          <a:prstGeom prst="rect">
            <a:avLst/>
          </a:prstGeom>
          <a:solidFill>
            <a:srgbClr val="FFFFFF"/>
          </a:solidFill>
          <a:ln w="19050">
            <a:solidFill>
              <a:srgbClr val="7C6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522976" y="1078992"/>
            <a:ext cx="1645920" cy="502920"/>
          </a:xfrm>
          <a:prstGeom prst="rect">
            <a:avLst/>
          </a:prstGeom>
          <a:solidFill>
            <a:srgbClr val="7C6FFF"/>
          </a:solidFill>
          <a:ln/>
        </p:spPr>
      </p:sp>
      <p:sp>
        <p:nvSpPr>
          <p:cNvPr id="31" name="Text 28"/>
          <p:cNvSpPr/>
          <p:nvPr/>
        </p:nvSpPr>
        <p:spPr>
          <a:xfrm>
            <a:off x="5522976" y="107899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2200" dirty="0"/>
          </a:p>
        </p:txBody>
      </p:sp>
      <p:sp>
        <p:nvSpPr>
          <p:cNvPr id="32" name="Text 29"/>
          <p:cNvSpPr/>
          <p:nvPr/>
        </p:nvSpPr>
        <p:spPr>
          <a:xfrm>
            <a:off x="5614416" y="16642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5614416" y="2011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local data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5888736" y="2304288"/>
            <a:ext cx="914400" cy="27432"/>
          </a:xfrm>
          <a:prstGeom prst="rect">
            <a:avLst/>
          </a:prstGeom>
          <a:solidFill>
            <a:srgbClr val="7C6FFF">
              <a:alpha val="50000"/>
            </a:srgbClr>
          </a:solidFill>
          <a:ln/>
        </p:spPr>
      </p:sp>
      <p:sp>
        <p:nvSpPr>
          <p:cNvPr id="35" name="Text 32"/>
          <p:cNvSpPr/>
          <p:nvPr/>
        </p:nvSpPr>
        <p:spPr>
          <a:xfrm>
            <a:off x="5614416" y="2377440"/>
            <a:ext cx="1463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servers, no accounts, no exposure. Works fully offline after initial page load.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7296912" y="1078992"/>
            <a:ext cx="1645920" cy="3858768"/>
          </a:xfrm>
          <a:prstGeom prst="rect">
            <a:avLst/>
          </a:prstGeom>
          <a:solidFill>
            <a:srgbClr val="FFFFFF"/>
          </a:solidFill>
          <a:ln w="19050">
            <a:solidFill>
              <a:srgbClr val="FF5B7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7296912" y="1078992"/>
            <a:ext cx="1645920" cy="502920"/>
          </a:xfrm>
          <a:prstGeom prst="rect">
            <a:avLst/>
          </a:prstGeom>
          <a:solidFill>
            <a:srgbClr val="FF5B79"/>
          </a:solidFill>
          <a:ln/>
        </p:spPr>
      </p:sp>
      <p:sp>
        <p:nvSpPr>
          <p:cNvPr id="38" name="Text 35"/>
          <p:cNvSpPr/>
          <p:nvPr/>
        </p:nvSpPr>
        <p:spPr>
          <a:xfrm>
            <a:off x="7296912" y="107899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2200" dirty="0"/>
          </a:p>
        </p:txBody>
      </p:sp>
      <p:sp>
        <p:nvSpPr>
          <p:cNvPr id="39" name="Text 36"/>
          <p:cNvSpPr/>
          <p:nvPr/>
        </p:nvSpPr>
        <p:spPr>
          <a:xfrm>
            <a:off x="7388352" y="1664208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400" dirty="0"/>
          </a:p>
        </p:txBody>
      </p:sp>
      <p:sp>
        <p:nvSpPr>
          <p:cNvPr id="40" name="Text 37"/>
          <p:cNvSpPr/>
          <p:nvPr/>
        </p:nvSpPr>
        <p:spPr>
          <a:xfrm>
            <a:off x="7388352" y="20116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5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extend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7662672" y="2304288"/>
            <a:ext cx="914400" cy="27432"/>
          </a:xfrm>
          <a:prstGeom prst="rect">
            <a:avLst/>
          </a:prstGeom>
          <a:solidFill>
            <a:srgbClr val="FF5B79">
              <a:alpha val="50000"/>
            </a:srgbClr>
          </a:solidFill>
          <a:ln/>
        </p:spPr>
      </p:sp>
      <p:sp>
        <p:nvSpPr>
          <p:cNvPr id="42" name="Text 39"/>
          <p:cNvSpPr/>
          <p:nvPr/>
        </p:nvSpPr>
        <p:spPr>
          <a:xfrm>
            <a:off x="7388352" y="2377440"/>
            <a:ext cx="14630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architecture ready for bank sync, multi-user wallets, and cloud backup.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A2F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82880"/>
            <a:ext cx="502920" cy="5029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87552" y="20116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7552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87552" y="4572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Personas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01168" y="960120"/>
            <a:ext cx="2798064" cy="4005072"/>
          </a:xfrm>
          <a:prstGeom prst="rect">
            <a:avLst/>
          </a:prstGeom>
          <a:solidFill>
            <a:srgbClr val="1A2F4A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01168" y="960120"/>
            <a:ext cx="2798064" cy="749808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9" name="Text 6"/>
          <p:cNvSpPr/>
          <p:nvPr/>
        </p:nvSpPr>
        <p:spPr>
          <a:xfrm>
            <a:off x="338328" y="10058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Chen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38328" y="135331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Associate  ·  Age 27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38328" y="178308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just need to know if I can afford brunch — fast."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38328" y="235915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GOALS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338328" y="261518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Log expenses in &lt; 10 sec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38328" y="288950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See budget at a glance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338328" y="316382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Save for travel fund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38328" y="347472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5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PAIN POINTS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338328" y="373075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Forgets to log daily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338328" y="398678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Too many categories confuse her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38328" y="4261104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Vue.js Touchpoints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38328" y="448056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B8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v-model fast form inputs  ·  computed() instant balance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3136392" y="960120"/>
            <a:ext cx="2798064" cy="4005072"/>
          </a:xfrm>
          <a:prstGeom prst="rect">
            <a:avLst/>
          </a:prstGeom>
          <a:solidFill>
            <a:srgbClr val="1A2F4A"/>
          </a:solidFill>
          <a:ln w="19050">
            <a:solidFill>
              <a:srgbClr val="00C89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136392" y="960120"/>
            <a:ext cx="2798064" cy="749808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3" name="Text 20"/>
          <p:cNvSpPr/>
          <p:nvPr/>
        </p:nvSpPr>
        <p:spPr>
          <a:xfrm>
            <a:off x="3273552" y="10058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Okafor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3273552" y="135331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&amp; Father of 2  ·  Age 41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273552" y="178308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"We need to agree on spending as a family."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3273552" y="235915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GOALS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3273552" y="261518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Shared household tracking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3273552" y="288950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Strict monthly budget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273552" y="316382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Build emergency fund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3273552" y="347472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5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PAIN POINTS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3273552" y="373075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shared data with spouse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273552" y="398678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Mixes personal + family spend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3273552" y="4261104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Vue.js Touchpoints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3273552" y="448056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B8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defineProps data flow  ·  defineEmits delete events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6071616" y="960120"/>
            <a:ext cx="2798064" cy="4005072"/>
          </a:xfrm>
          <a:prstGeom prst="rect">
            <a:avLst/>
          </a:prstGeom>
          <a:solidFill>
            <a:srgbClr val="1A2F4A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071616" y="960120"/>
            <a:ext cx="2798064" cy="749808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37" name="Text 34"/>
          <p:cNvSpPr/>
          <p:nvPr/>
        </p:nvSpPr>
        <p:spPr>
          <a:xfrm>
            <a:off x="6208776" y="1005840"/>
            <a:ext cx="25237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Sofia Rossi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08776" y="1353312"/>
            <a:ext cx="25237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 UX Designer  ·  Age 34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208776" y="1783080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i="1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invoice in 3 currencies and still need to pay rent."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6208776" y="235915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GOALS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6208776" y="261518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Separate business expenses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208776" y="288950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Clean records for taxes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6208776" y="3163824"/>
            <a:ext cx="25237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Track multi-client income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6208776" y="3474720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FF5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PAIN POINTS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6208776" y="3730752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Business/personal confusion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208776" y="3986784"/>
            <a:ext cx="2523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Tax time is stressful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208776" y="4261104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7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Vue.js Touchpoints</a:t>
            </a:r>
            <a:endParaRPr lang="en-US" sz="850" dirty="0"/>
          </a:p>
        </p:txBody>
      </p:sp>
      <p:sp>
        <p:nvSpPr>
          <p:cNvPr id="48" name="Text 45"/>
          <p:cNvSpPr/>
          <p:nvPr/>
        </p:nvSpPr>
        <p:spPr>
          <a:xfrm>
            <a:off x="6208776" y="448056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7B8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Income/Expense type toggle  ·  Date picker per transaction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19456"/>
            <a:ext cx="475488" cy="4754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87552" y="201168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7552" y="2011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01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87552" y="457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Flow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7132320" y="27432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B8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setup in under 60 seconds · No account creation required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01168" y="1005840"/>
            <a:ext cx="4251960" cy="274320"/>
          </a:xfrm>
          <a:prstGeom prst="rect">
            <a:avLst/>
          </a:prstGeom>
          <a:solidFill>
            <a:srgbClr val="4FC3F7">
              <a:alpha val="85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310896" y="10058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005840"/>
            <a:ext cx="4251960" cy="274320"/>
          </a:xfrm>
          <a:prstGeom prst="rect">
            <a:avLst/>
          </a:prstGeom>
          <a:solidFill>
            <a:srgbClr val="7C6FFF">
              <a:alpha val="85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4773168" y="10058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Vue.js Layer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01168" y="1371600"/>
            <a:ext cx="347472" cy="58521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3" name="Text 10"/>
          <p:cNvSpPr/>
          <p:nvPr/>
        </p:nvSpPr>
        <p:spPr>
          <a:xfrm>
            <a:off x="201168" y="1371600"/>
            <a:ext cx="347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66928" y="1371600"/>
            <a:ext cx="388620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8368" y="137160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loads — user sees welcome screen with $0.00 balance and prominent Add Transaction form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462272" y="1371600"/>
            <a:ext cx="201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B8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681728" y="1371600"/>
            <a:ext cx="4251960" cy="585216"/>
          </a:xfrm>
          <a:prstGeom prst="rect">
            <a:avLst/>
          </a:prstGeom>
          <a:solidFill>
            <a:srgbClr val="F5F0FF"/>
          </a:solidFill>
          <a:ln w="3810">
            <a:solidFill>
              <a:srgbClr val="C4B5F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81728" y="1371600"/>
            <a:ext cx="54864" cy="585216"/>
          </a:xfrm>
          <a:prstGeom prst="rect">
            <a:avLst/>
          </a:prstGeom>
          <a:solidFill>
            <a:srgbClr val="7C6FFF"/>
          </a:solidFill>
          <a:ln/>
        </p:spPr>
      </p:sp>
      <p:sp>
        <p:nvSpPr>
          <p:cNvPr id="19" name="Text 16"/>
          <p:cNvSpPr/>
          <p:nvPr/>
        </p:nvSpPr>
        <p:spPr>
          <a:xfrm>
            <a:off x="4773168" y="1371600"/>
            <a:ext cx="40965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createApp().mount('#app') · setup() runs · transactions ref([]) initialised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201168" y="2103120"/>
            <a:ext cx="347472" cy="58521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1" name="Text 18"/>
          <p:cNvSpPr/>
          <p:nvPr/>
        </p:nvSpPr>
        <p:spPr>
          <a:xfrm>
            <a:off x="201168" y="2103120"/>
            <a:ext cx="347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566928" y="2103120"/>
            <a:ext cx="3886200" cy="585216"/>
          </a:xfrm>
          <a:prstGeom prst="rect">
            <a:avLst/>
          </a:prstGeom>
          <a:solidFill>
            <a:srgbClr val="F0F4FA"/>
          </a:solidFill>
          <a:ln w="3810">
            <a:solidFill>
              <a:srgbClr val="DDE3E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" y="210312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scans the dashboard — Balance, Income, Expense cards are all visible immediately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462272" y="2103120"/>
            <a:ext cx="201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B8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681728" y="2103120"/>
            <a:ext cx="4251960" cy="585216"/>
          </a:xfrm>
          <a:prstGeom prst="rect">
            <a:avLst/>
          </a:prstGeom>
          <a:solidFill>
            <a:srgbClr val="F5F0FF"/>
          </a:solidFill>
          <a:ln w="3810">
            <a:solidFill>
              <a:srgbClr val="C4B5FD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681728" y="2103120"/>
            <a:ext cx="54864" cy="585216"/>
          </a:xfrm>
          <a:prstGeom prst="rect">
            <a:avLst/>
          </a:prstGeom>
          <a:solidFill>
            <a:srgbClr val="7C6FFF"/>
          </a:solidFill>
          <a:ln/>
        </p:spPr>
      </p:sp>
      <p:sp>
        <p:nvSpPr>
          <p:cNvPr id="27" name="Text 24"/>
          <p:cNvSpPr/>
          <p:nvPr/>
        </p:nvSpPr>
        <p:spPr>
          <a:xfrm>
            <a:off x="4773168" y="2103120"/>
            <a:ext cx="40965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computed() returns 0 for all values · v-if shows empty state in TransactionList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201168" y="2834640"/>
            <a:ext cx="347472" cy="58521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9" name="Text 26"/>
          <p:cNvSpPr/>
          <p:nvPr/>
        </p:nvSpPr>
        <p:spPr>
          <a:xfrm>
            <a:off x="201168" y="2834640"/>
            <a:ext cx="347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30" name="Shape 27"/>
          <p:cNvSpPr/>
          <p:nvPr/>
        </p:nvSpPr>
        <p:spPr>
          <a:xfrm>
            <a:off x="566928" y="2834640"/>
            <a:ext cx="388620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58368" y="283464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taps the type toggle — selects Income or Expense with immediate visual feedback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4462272" y="2834640"/>
            <a:ext cx="201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B8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4681728" y="2834640"/>
            <a:ext cx="4251960" cy="585216"/>
          </a:xfrm>
          <a:prstGeom prst="rect">
            <a:avLst/>
          </a:prstGeom>
          <a:solidFill>
            <a:srgbClr val="F5F0FF"/>
          </a:solidFill>
          <a:ln w="3810">
            <a:solidFill>
              <a:srgbClr val="C4B5FD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681728" y="2834640"/>
            <a:ext cx="54864" cy="585216"/>
          </a:xfrm>
          <a:prstGeom prst="rect">
            <a:avLst/>
          </a:prstGeom>
          <a:solidFill>
            <a:srgbClr val="7C6FFF"/>
          </a:solidFill>
          <a:ln/>
        </p:spPr>
      </p:sp>
      <p:sp>
        <p:nvSpPr>
          <p:cNvPr id="35" name="Text 32"/>
          <p:cNvSpPr/>
          <p:nvPr/>
        </p:nvSpPr>
        <p:spPr>
          <a:xfrm>
            <a:off x="4773168" y="2834640"/>
            <a:ext cx="40965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v-model bound to newTx.type ref · :class binding applies active styles reactively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201168" y="3566160"/>
            <a:ext cx="347472" cy="58521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7" name="Text 34"/>
          <p:cNvSpPr/>
          <p:nvPr/>
        </p:nvSpPr>
        <p:spPr>
          <a:xfrm>
            <a:off x="201168" y="3566160"/>
            <a:ext cx="347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566928" y="3566160"/>
            <a:ext cx="3886200" cy="585216"/>
          </a:xfrm>
          <a:prstGeom prst="rect">
            <a:avLst/>
          </a:prstGeom>
          <a:solidFill>
            <a:srgbClr val="F0F4FA"/>
          </a:solidFill>
          <a:ln w="3810">
            <a:solidFill>
              <a:srgbClr val="DDE3E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58368" y="356616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description, amount, category and date — submits via Add Transaction button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462272" y="3566160"/>
            <a:ext cx="201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B8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4681728" y="3566160"/>
            <a:ext cx="4251960" cy="585216"/>
          </a:xfrm>
          <a:prstGeom prst="rect">
            <a:avLst/>
          </a:prstGeom>
          <a:solidFill>
            <a:srgbClr val="F5F0FF"/>
          </a:solidFill>
          <a:ln w="3810">
            <a:solidFill>
              <a:srgbClr val="C4B5FD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681728" y="3566160"/>
            <a:ext cx="54864" cy="585216"/>
          </a:xfrm>
          <a:prstGeom prst="rect">
            <a:avLst/>
          </a:prstGeom>
          <a:solidFill>
            <a:srgbClr val="7C6FFF"/>
          </a:solidFill>
          <a:ln/>
        </p:spPr>
      </p:sp>
      <p:sp>
        <p:nvSpPr>
          <p:cNvPr id="43" name="Text 40"/>
          <p:cNvSpPr/>
          <p:nvPr/>
        </p:nvSpPr>
        <p:spPr>
          <a:xfrm>
            <a:off x="4773168" y="3566160"/>
            <a:ext cx="40965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v-model on all inputs · @click calls handleAddTransaction() · validation runs</a:t>
            </a:r>
            <a:endParaRPr lang="en-US" sz="950" dirty="0"/>
          </a:p>
        </p:txBody>
      </p:sp>
      <p:sp>
        <p:nvSpPr>
          <p:cNvPr id="44" name="Shape 41"/>
          <p:cNvSpPr/>
          <p:nvPr/>
        </p:nvSpPr>
        <p:spPr>
          <a:xfrm>
            <a:off x="201168" y="4297680"/>
            <a:ext cx="347472" cy="585216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5" name="Text 42"/>
          <p:cNvSpPr/>
          <p:nvPr/>
        </p:nvSpPr>
        <p:spPr>
          <a:xfrm>
            <a:off x="201168" y="4297680"/>
            <a:ext cx="347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46" name="Shape 43"/>
          <p:cNvSpPr/>
          <p:nvPr/>
        </p:nvSpPr>
        <p:spPr>
          <a:xfrm>
            <a:off x="566928" y="4297680"/>
            <a:ext cx="3886200" cy="585216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58368" y="4297680"/>
            <a:ext cx="37490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appears in list instantly — Balance updates — green toast confirms success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4462272" y="4297680"/>
            <a:ext cx="2011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B8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4681728" y="4297680"/>
            <a:ext cx="4251960" cy="585216"/>
          </a:xfrm>
          <a:prstGeom prst="rect">
            <a:avLst/>
          </a:prstGeom>
          <a:solidFill>
            <a:srgbClr val="F5F0FF"/>
          </a:solidFill>
          <a:ln w="3810">
            <a:solidFill>
              <a:srgbClr val="C4B5FD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4681728" y="4297680"/>
            <a:ext cx="54864" cy="585216"/>
          </a:xfrm>
          <a:prstGeom prst="rect">
            <a:avLst/>
          </a:prstGeom>
          <a:solidFill>
            <a:srgbClr val="7C6FFF"/>
          </a:solidFill>
          <a:ln/>
        </p:spPr>
      </p:sp>
      <p:sp>
        <p:nvSpPr>
          <p:cNvPr id="51" name="Text 48"/>
          <p:cNvSpPr/>
          <p:nvPr/>
        </p:nvSpPr>
        <p:spPr>
          <a:xfrm>
            <a:off x="4773168" y="4297680"/>
            <a:ext cx="40965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4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push() to transactions.value · computed() recalculates · saveToLocalStorage() called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2F4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01168"/>
            <a:ext cx="475488" cy="4754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87552" y="18288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7552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02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87552" y="43891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Expense Logging Flow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347472" y="0"/>
            <a:ext cx="8503920" cy="91440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b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under 10 seconds from intent to saved transaction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82880" y="1024128"/>
            <a:ext cx="1024128" cy="1078992"/>
          </a:xfrm>
          <a:prstGeom prst="rect">
            <a:avLst/>
          </a:prstGeom>
          <a:solidFill>
            <a:srgbClr val="1E497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2880" y="1024128"/>
            <a:ext cx="1024128" cy="2743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0" name="Text 7"/>
          <p:cNvSpPr/>
          <p:nvPr/>
        </p:nvSpPr>
        <p:spPr>
          <a:xfrm>
            <a:off x="182880" y="102412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37744" y="13533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Type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37744" y="164592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or Expense toggle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207008" y="1188720"/>
            <a:ext cx="82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B8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1243584" y="1024128"/>
            <a:ext cx="1024128" cy="1078992"/>
          </a:xfrm>
          <a:prstGeom prst="rect">
            <a:avLst/>
          </a:prstGeom>
          <a:solidFill>
            <a:srgbClr val="1E4976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243584" y="1024128"/>
            <a:ext cx="1024128" cy="2743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6" name="Text 13"/>
          <p:cNvSpPr/>
          <p:nvPr/>
        </p:nvSpPr>
        <p:spPr>
          <a:xfrm>
            <a:off x="1243584" y="102412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298448" y="13533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Amount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298448" y="164592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input with step 0.01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2267712" y="1188720"/>
            <a:ext cx="82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B8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2304288" y="1024128"/>
            <a:ext cx="1024128" cy="1078992"/>
          </a:xfrm>
          <a:prstGeom prst="rect">
            <a:avLst/>
          </a:prstGeom>
          <a:solidFill>
            <a:srgbClr val="1E497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304288" y="1024128"/>
            <a:ext cx="1024128" cy="2743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2" name="Text 19"/>
          <p:cNvSpPr/>
          <p:nvPr/>
        </p:nvSpPr>
        <p:spPr>
          <a:xfrm>
            <a:off x="2304288" y="102412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2359152" y="13533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2359152" y="164592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label, max 40 chars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328416" y="1188720"/>
            <a:ext cx="82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B8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6" name="Shape 23"/>
          <p:cNvSpPr/>
          <p:nvPr/>
        </p:nvSpPr>
        <p:spPr>
          <a:xfrm>
            <a:off x="3364992" y="1024128"/>
            <a:ext cx="1024128" cy="1078992"/>
          </a:xfrm>
          <a:prstGeom prst="rect">
            <a:avLst/>
          </a:prstGeom>
          <a:solidFill>
            <a:srgbClr val="1E4976"/>
          </a:solidFill>
          <a:ln w="12700">
            <a:solidFill>
              <a:srgbClr val="7C6F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364992" y="1024128"/>
            <a:ext cx="1024128" cy="274320"/>
          </a:xfrm>
          <a:prstGeom prst="rect">
            <a:avLst/>
          </a:prstGeom>
          <a:solidFill>
            <a:srgbClr val="7C6FFF"/>
          </a:solidFill>
          <a:ln/>
        </p:spPr>
      </p:sp>
      <p:sp>
        <p:nvSpPr>
          <p:cNvPr id="28" name="Text 25"/>
          <p:cNvSpPr/>
          <p:nvPr/>
        </p:nvSpPr>
        <p:spPr>
          <a:xfrm>
            <a:off x="3364992" y="102412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3419856" y="13533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3419856" y="164592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options with emoji icons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4389120" y="1188720"/>
            <a:ext cx="82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B8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2" name="Shape 29"/>
          <p:cNvSpPr/>
          <p:nvPr/>
        </p:nvSpPr>
        <p:spPr>
          <a:xfrm>
            <a:off x="4425696" y="1024128"/>
            <a:ext cx="1024128" cy="1078992"/>
          </a:xfrm>
          <a:prstGeom prst="rect">
            <a:avLst/>
          </a:prstGeom>
          <a:solidFill>
            <a:srgbClr val="1E4976"/>
          </a:solidFill>
          <a:ln w="12700">
            <a:solidFill>
              <a:srgbClr val="FF5B7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425696" y="1024128"/>
            <a:ext cx="1024128" cy="274320"/>
          </a:xfrm>
          <a:prstGeom prst="rect">
            <a:avLst/>
          </a:prstGeom>
          <a:solidFill>
            <a:srgbClr val="FF5B79"/>
          </a:solidFill>
          <a:ln/>
        </p:spPr>
      </p:sp>
      <p:sp>
        <p:nvSpPr>
          <p:cNvPr id="34" name="Text 31"/>
          <p:cNvSpPr/>
          <p:nvPr/>
        </p:nvSpPr>
        <p:spPr>
          <a:xfrm>
            <a:off x="4425696" y="102412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4480560" y="13533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Date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4480560" y="164592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to today's date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5449824" y="1188720"/>
            <a:ext cx="82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B8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38" name="Shape 35"/>
          <p:cNvSpPr/>
          <p:nvPr/>
        </p:nvSpPr>
        <p:spPr>
          <a:xfrm>
            <a:off x="5486400" y="1024128"/>
            <a:ext cx="1024128" cy="1078992"/>
          </a:xfrm>
          <a:prstGeom prst="rect">
            <a:avLst/>
          </a:prstGeom>
          <a:solidFill>
            <a:srgbClr val="1E497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486400" y="1024128"/>
            <a:ext cx="1024128" cy="2743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40" name="Text 37"/>
          <p:cNvSpPr/>
          <p:nvPr/>
        </p:nvSpPr>
        <p:spPr>
          <a:xfrm>
            <a:off x="5486400" y="102412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5541264" y="13533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541264" y="164592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fires first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6510528" y="1188720"/>
            <a:ext cx="82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B8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44" name="Shape 41"/>
          <p:cNvSpPr/>
          <p:nvPr/>
        </p:nvSpPr>
        <p:spPr>
          <a:xfrm>
            <a:off x="6547104" y="1024128"/>
            <a:ext cx="1024128" cy="1078992"/>
          </a:xfrm>
          <a:prstGeom prst="rect">
            <a:avLst/>
          </a:prstGeom>
          <a:solidFill>
            <a:srgbClr val="1E4976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547104" y="1024128"/>
            <a:ext cx="1024128" cy="27432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46" name="Text 43"/>
          <p:cNvSpPr/>
          <p:nvPr/>
        </p:nvSpPr>
        <p:spPr>
          <a:xfrm>
            <a:off x="6547104" y="102412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6601968" y="13533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Live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601968" y="164592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recomputes instantly</a:t>
            </a:r>
            <a:endParaRPr lang="en-US" sz="850" dirty="0"/>
          </a:p>
        </p:txBody>
      </p:sp>
      <p:sp>
        <p:nvSpPr>
          <p:cNvPr id="49" name="Text 46"/>
          <p:cNvSpPr/>
          <p:nvPr/>
        </p:nvSpPr>
        <p:spPr>
          <a:xfrm>
            <a:off x="7571232" y="1188720"/>
            <a:ext cx="82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7B8B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50" name="Shape 47"/>
          <p:cNvSpPr/>
          <p:nvPr/>
        </p:nvSpPr>
        <p:spPr>
          <a:xfrm>
            <a:off x="7607808" y="1024128"/>
            <a:ext cx="1024128" cy="1078992"/>
          </a:xfrm>
          <a:prstGeom prst="rect">
            <a:avLst/>
          </a:prstGeom>
          <a:solidFill>
            <a:srgbClr val="1E497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607808" y="1024128"/>
            <a:ext cx="1024128" cy="27432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52" name="Text 49"/>
          <p:cNvSpPr/>
          <p:nvPr/>
        </p:nvSpPr>
        <p:spPr>
          <a:xfrm>
            <a:off x="7607808" y="1024128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7662672" y="135331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Saved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7662672" y="1645920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updated immediately</a:t>
            </a:r>
            <a:endParaRPr lang="en-US" sz="850" dirty="0"/>
          </a:p>
        </p:txBody>
      </p:sp>
      <p:sp>
        <p:nvSpPr>
          <p:cNvPr id="55" name="Shape 52"/>
          <p:cNvSpPr/>
          <p:nvPr/>
        </p:nvSpPr>
        <p:spPr>
          <a:xfrm>
            <a:off x="182880" y="2240280"/>
            <a:ext cx="8796528" cy="274320"/>
          </a:xfrm>
          <a:prstGeom prst="rect">
            <a:avLst/>
          </a:prstGeom>
          <a:solidFill>
            <a:srgbClr val="1E4976"/>
          </a:solidFill>
          <a:ln/>
        </p:spPr>
      </p:sp>
      <p:sp>
        <p:nvSpPr>
          <p:cNvPr id="56" name="Text 53"/>
          <p:cNvSpPr/>
          <p:nvPr/>
        </p:nvSpPr>
        <p:spPr>
          <a:xfrm>
            <a:off x="320040" y="2240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⚙  </a:t>
            </a:r>
            <a:r>
              <a:rPr lang="en-US" sz="950" b="1" dirty="0" smtClean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Vue.js: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182880" y="2542032"/>
            <a:ext cx="1024128" cy="502920"/>
          </a:xfrm>
          <a:prstGeom prst="rect">
            <a:avLst/>
          </a:prstGeom>
          <a:solidFill>
            <a:srgbClr val="1A2A40"/>
          </a:solidFill>
          <a:ln/>
        </p:spPr>
      </p:sp>
      <p:sp>
        <p:nvSpPr>
          <p:cNvPr id="58" name="Text 55"/>
          <p:cNvSpPr/>
          <p:nvPr/>
        </p:nvSpPr>
        <p:spPr>
          <a:xfrm>
            <a:off x="219456" y="2542032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7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v-model on type toggle</a:t>
            </a:r>
            <a:endParaRPr lang="en-US" sz="780" dirty="0"/>
          </a:p>
        </p:txBody>
      </p:sp>
      <p:sp>
        <p:nvSpPr>
          <p:cNvPr id="59" name="Shape 56"/>
          <p:cNvSpPr/>
          <p:nvPr/>
        </p:nvSpPr>
        <p:spPr>
          <a:xfrm>
            <a:off x="1243584" y="2542032"/>
            <a:ext cx="1024128" cy="502920"/>
          </a:xfrm>
          <a:prstGeom prst="rect">
            <a:avLst/>
          </a:prstGeom>
          <a:solidFill>
            <a:srgbClr val="1A2A40"/>
          </a:solidFill>
          <a:ln/>
        </p:spPr>
      </p:sp>
      <p:sp>
        <p:nvSpPr>
          <p:cNvPr id="60" name="Text 57"/>
          <p:cNvSpPr/>
          <p:nvPr/>
        </p:nvSpPr>
        <p:spPr>
          <a:xfrm>
            <a:off x="1280160" y="2542032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7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v-model.number on amount</a:t>
            </a:r>
            <a:endParaRPr lang="en-US" sz="780" dirty="0"/>
          </a:p>
        </p:txBody>
      </p:sp>
      <p:sp>
        <p:nvSpPr>
          <p:cNvPr id="61" name="Shape 58"/>
          <p:cNvSpPr/>
          <p:nvPr/>
        </p:nvSpPr>
        <p:spPr>
          <a:xfrm>
            <a:off x="2304288" y="2542032"/>
            <a:ext cx="1024128" cy="502920"/>
          </a:xfrm>
          <a:prstGeom prst="rect">
            <a:avLst/>
          </a:prstGeom>
          <a:solidFill>
            <a:srgbClr val="1A2A40"/>
          </a:solidFill>
          <a:ln/>
        </p:spPr>
      </p:sp>
      <p:sp>
        <p:nvSpPr>
          <p:cNvPr id="62" name="Text 59"/>
          <p:cNvSpPr/>
          <p:nvPr/>
        </p:nvSpPr>
        <p:spPr>
          <a:xfrm>
            <a:off x="2340864" y="2542032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7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.trim() on text input</a:t>
            </a:r>
            <a:endParaRPr lang="en-US" sz="780" dirty="0"/>
          </a:p>
        </p:txBody>
      </p:sp>
      <p:sp>
        <p:nvSpPr>
          <p:cNvPr id="63" name="Shape 60"/>
          <p:cNvSpPr/>
          <p:nvPr/>
        </p:nvSpPr>
        <p:spPr>
          <a:xfrm>
            <a:off x="3364992" y="2542032"/>
            <a:ext cx="1024128" cy="502920"/>
          </a:xfrm>
          <a:prstGeom prst="rect">
            <a:avLst/>
          </a:prstGeom>
          <a:solidFill>
            <a:srgbClr val="1A2A40"/>
          </a:solidFill>
          <a:ln/>
        </p:spPr>
      </p:sp>
      <p:sp>
        <p:nvSpPr>
          <p:cNvPr id="64" name="Text 61"/>
          <p:cNvSpPr/>
          <p:nvPr/>
        </p:nvSpPr>
        <p:spPr>
          <a:xfrm>
            <a:off x="3401568" y="2542032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7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v-for on &lt;option&gt; elements</a:t>
            </a:r>
            <a:endParaRPr lang="en-US" sz="780" dirty="0"/>
          </a:p>
        </p:txBody>
      </p:sp>
      <p:sp>
        <p:nvSpPr>
          <p:cNvPr id="65" name="Shape 62"/>
          <p:cNvSpPr/>
          <p:nvPr/>
        </p:nvSpPr>
        <p:spPr>
          <a:xfrm>
            <a:off x="4425696" y="2542032"/>
            <a:ext cx="1024128" cy="502920"/>
          </a:xfrm>
          <a:prstGeom prst="rect">
            <a:avLst/>
          </a:prstGeom>
          <a:solidFill>
            <a:srgbClr val="1A2A40"/>
          </a:solidFill>
          <a:ln/>
        </p:spPr>
      </p:sp>
      <p:sp>
        <p:nvSpPr>
          <p:cNvPr id="66" name="Text 63"/>
          <p:cNvSpPr/>
          <p:nvPr/>
        </p:nvSpPr>
        <p:spPr>
          <a:xfrm>
            <a:off x="4462272" y="2542032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7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date string default</a:t>
            </a:r>
            <a:endParaRPr lang="en-US" sz="780" dirty="0"/>
          </a:p>
        </p:txBody>
      </p:sp>
      <p:sp>
        <p:nvSpPr>
          <p:cNvPr id="67" name="Shape 64"/>
          <p:cNvSpPr/>
          <p:nvPr/>
        </p:nvSpPr>
        <p:spPr>
          <a:xfrm>
            <a:off x="5486400" y="2542032"/>
            <a:ext cx="1024128" cy="502920"/>
          </a:xfrm>
          <a:prstGeom prst="rect">
            <a:avLst/>
          </a:prstGeom>
          <a:solidFill>
            <a:srgbClr val="1A2A40"/>
          </a:solidFill>
          <a:ln/>
        </p:spPr>
      </p:sp>
      <p:sp>
        <p:nvSpPr>
          <p:cNvPr id="68" name="Text 65"/>
          <p:cNvSpPr/>
          <p:nvPr/>
        </p:nvSpPr>
        <p:spPr>
          <a:xfrm>
            <a:off x="5522976" y="2542032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7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@click → handleAddTransaction()</a:t>
            </a:r>
            <a:endParaRPr lang="en-US" sz="780" dirty="0"/>
          </a:p>
        </p:txBody>
      </p:sp>
      <p:sp>
        <p:nvSpPr>
          <p:cNvPr id="69" name="Shape 66"/>
          <p:cNvSpPr/>
          <p:nvPr/>
        </p:nvSpPr>
        <p:spPr>
          <a:xfrm>
            <a:off x="6547104" y="2542032"/>
            <a:ext cx="1024128" cy="502920"/>
          </a:xfrm>
          <a:prstGeom prst="rect">
            <a:avLst/>
          </a:prstGeom>
          <a:solidFill>
            <a:srgbClr val="1A2A40"/>
          </a:solidFill>
          <a:ln/>
        </p:spPr>
      </p:sp>
      <p:sp>
        <p:nvSpPr>
          <p:cNvPr id="70" name="Text 67"/>
          <p:cNvSpPr/>
          <p:nvPr/>
        </p:nvSpPr>
        <p:spPr>
          <a:xfrm>
            <a:off x="6583680" y="2542032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7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computed() auto-recalculates</a:t>
            </a:r>
            <a:endParaRPr lang="en-US" sz="780" dirty="0"/>
          </a:p>
        </p:txBody>
      </p:sp>
      <p:sp>
        <p:nvSpPr>
          <p:cNvPr id="71" name="Shape 68"/>
          <p:cNvSpPr/>
          <p:nvPr/>
        </p:nvSpPr>
        <p:spPr>
          <a:xfrm>
            <a:off x="7607808" y="2542032"/>
            <a:ext cx="1024128" cy="502920"/>
          </a:xfrm>
          <a:prstGeom prst="rect">
            <a:avLst/>
          </a:prstGeom>
          <a:solidFill>
            <a:srgbClr val="1A2A40"/>
          </a:solidFill>
          <a:ln/>
        </p:spPr>
      </p:sp>
      <p:sp>
        <p:nvSpPr>
          <p:cNvPr id="72" name="Text 69"/>
          <p:cNvSpPr/>
          <p:nvPr/>
        </p:nvSpPr>
        <p:spPr>
          <a:xfrm>
            <a:off x="7644384" y="2542032"/>
            <a:ext cx="950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80" i="1" dirty="0">
                <a:solidFill>
                  <a:srgbClr val="7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saveToLocalStorage() called</a:t>
            </a:r>
            <a:endParaRPr lang="en-US" sz="780" dirty="0"/>
          </a:p>
        </p:txBody>
      </p:sp>
      <p:sp>
        <p:nvSpPr>
          <p:cNvPr id="73" name="Shape 70"/>
          <p:cNvSpPr/>
          <p:nvPr/>
        </p:nvSpPr>
        <p:spPr>
          <a:xfrm>
            <a:off x="182880" y="3200400"/>
            <a:ext cx="8796528" cy="1719072"/>
          </a:xfrm>
          <a:prstGeom prst="rect">
            <a:avLst/>
          </a:prstGeom>
          <a:solidFill>
            <a:srgbClr val="1A2F4A"/>
          </a:solidFill>
          <a:ln/>
        </p:spPr>
      </p:sp>
      <p:sp>
        <p:nvSpPr>
          <p:cNvPr id="74" name="Shape 71"/>
          <p:cNvSpPr/>
          <p:nvPr/>
        </p:nvSpPr>
        <p:spPr>
          <a:xfrm>
            <a:off x="182880" y="3200400"/>
            <a:ext cx="8796528" cy="27432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75" name="Text 72"/>
          <p:cNvSpPr/>
          <p:nvPr/>
        </p:nvSpPr>
        <p:spPr>
          <a:xfrm>
            <a:off x="457200" y="33101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2200" dirty="0"/>
          </a:p>
        </p:txBody>
      </p:sp>
      <p:sp>
        <p:nvSpPr>
          <p:cNvPr id="76" name="Text 73"/>
          <p:cNvSpPr/>
          <p:nvPr/>
        </p:nvSpPr>
        <p:spPr>
          <a:xfrm>
            <a:off x="45720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Feedback</a:t>
            </a:r>
            <a:endParaRPr lang="en-US" sz="1000" dirty="0"/>
          </a:p>
        </p:txBody>
      </p:sp>
      <p:sp>
        <p:nvSpPr>
          <p:cNvPr id="77" name="Text 74"/>
          <p:cNvSpPr/>
          <p:nvPr/>
        </p:nvSpPr>
        <p:spPr>
          <a:xfrm>
            <a:off x="457200" y="3977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notification with success animation</a:t>
            </a:r>
            <a:endParaRPr lang="en-US" sz="900" dirty="0"/>
          </a:p>
        </p:txBody>
      </p:sp>
      <p:sp>
        <p:nvSpPr>
          <p:cNvPr id="78" name="Text 75"/>
          <p:cNvSpPr/>
          <p:nvPr/>
        </p:nvSpPr>
        <p:spPr>
          <a:xfrm>
            <a:off x="2651760" y="33101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200" dirty="0"/>
          </a:p>
        </p:txBody>
      </p:sp>
      <p:sp>
        <p:nvSpPr>
          <p:cNvPr id="79" name="Text 76"/>
          <p:cNvSpPr/>
          <p:nvPr/>
        </p:nvSpPr>
        <p:spPr>
          <a:xfrm>
            <a:off x="265176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</a:t>
            </a:r>
            <a:endParaRPr lang="en-US" sz="1000" dirty="0"/>
          </a:p>
        </p:txBody>
      </p:sp>
      <p:sp>
        <p:nvSpPr>
          <p:cNvPr id="80" name="Text 77"/>
          <p:cNvSpPr/>
          <p:nvPr/>
        </p:nvSpPr>
        <p:spPr>
          <a:xfrm>
            <a:off x="2651760" y="3977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+ stats update without page refresh</a:t>
            </a:r>
            <a:endParaRPr lang="en-US" sz="900" dirty="0"/>
          </a:p>
        </p:txBody>
      </p:sp>
      <p:sp>
        <p:nvSpPr>
          <p:cNvPr id="81" name="Text 78"/>
          <p:cNvSpPr/>
          <p:nvPr/>
        </p:nvSpPr>
        <p:spPr>
          <a:xfrm>
            <a:off x="4846320" y="33101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200" dirty="0"/>
          </a:p>
        </p:txBody>
      </p:sp>
      <p:sp>
        <p:nvSpPr>
          <p:cNvPr id="82" name="Text 79"/>
          <p:cNvSpPr/>
          <p:nvPr/>
        </p:nvSpPr>
        <p:spPr>
          <a:xfrm>
            <a:off x="484632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Resets</a:t>
            </a:r>
            <a:endParaRPr lang="en-US" sz="1000" dirty="0"/>
          </a:p>
        </p:txBody>
      </p:sp>
      <p:sp>
        <p:nvSpPr>
          <p:cNvPr id="83" name="Text 80"/>
          <p:cNvSpPr/>
          <p:nvPr/>
        </p:nvSpPr>
        <p:spPr>
          <a:xfrm>
            <a:off x="4846320" y="3977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amount clear, type &amp; date persist</a:t>
            </a:r>
            <a:endParaRPr lang="en-US" sz="900" dirty="0"/>
          </a:p>
        </p:txBody>
      </p:sp>
      <p:sp>
        <p:nvSpPr>
          <p:cNvPr id="84" name="Text 81"/>
          <p:cNvSpPr/>
          <p:nvPr/>
        </p:nvSpPr>
        <p:spPr>
          <a:xfrm>
            <a:off x="7040880" y="33101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2200" dirty="0"/>
          </a:p>
        </p:txBody>
      </p:sp>
      <p:sp>
        <p:nvSpPr>
          <p:cNvPr id="85" name="Text 82"/>
          <p:cNvSpPr/>
          <p:nvPr/>
        </p:nvSpPr>
        <p:spPr>
          <a:xfrm>
            <a:off x="7040880" y="3703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Storage</a:t>
            </a:r>
            <a:endParaRPr lang="en-US" sz="1000" dirty="0"/>
          </a:p>
        </p:txBody>
      </p:sp>
      <p:sp>
        <p:nvSpPr>
          <p:cNvPr id="86" name="Text 83"/>
          <p:cNvSpPr/>
          <p:nvPr/>
        </p:nvSpPr>
        <p:spPr>
          <a:xfrm>
            <a:off x="7040880" y="39776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survives browser close &amp; page refresh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01168"/>
            <a:ext cx="475488" cy="4754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87552" y="182880"/>
            <a:ext cx="1463040" cy="256032"/>
          </a:xfrm>
          <a:prstGeom prst="roundRect">
            <a:avLst>
              <a:gd name="adj" fmla="val 21429"/>
            </a:avLst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87552" y="18288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FLOWS 03 &amp; 04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987552" y="43891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Delete Transaction Flows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201168" y="987552"/>
            <a:ext cx="4206240" cy="347472"/>
          </a:xfrm>
          <a:prstGeom prst="rect">
            <a:avLst/>
          </a:prstGeom>
          <a:solidFill>
            <a:srgbClr val="4FC3F7">
              <a:alpha val="85000"/>
            </a:srgbClr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042416"/>
            <a:ext cx="237744" cy="2377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8640" y="9875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Review &amp; Filter Flow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201168" y="1417320"/>
            <a:ext cx="329184" cy="5486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1" name="Text 7"/>
          <p:cNvSpPr/>
          <p:nvPr/>
        </p:nvSpPr>
        <p:spPr>
          <a:xfrm>
            <a:off x="201168" y="141732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1417320"/>
            <a:ext cx="292608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0080" y="1417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Opens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640080" y="1673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data loads via onMounted(). Full history shown.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3493008" y="1417320"/>
            <a:ext cx="914400" cy="548640"/>
          </a:xfrm>
          <a:prstGeom prst="rect">
            <a:avLst/>
          </a:prstGeom>
          <a:solidFill>
            <a:srgbClr val="F5F0FF"/>
          </a:solidFill>
          <a:ln w="3810">
            <a:solidFill>
              <a:srgbClr val="C4B5FD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529584" y="141732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onMounted() → JSON.parse()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201168" y="2112264"/>
            <a:ext cx="329184" cy="5486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8" name="Text 14"/>
          <p:cNvSpPr/>
          <p:nvPr/>
        </p:nvSpPr>
        <p:spPr>
          <a:xfrm>
            <a:off x="201168" y="2112264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548640" y="2112264"/>
            <a:ext cx="2926080" cy="548640"/>
          </a:xfrm>
          <a:prstGeom prst="rect">
            <a:avLst/>
          </a:prstGeom>
          <a:solidFill>
            <a:srgbClr val="F0F4FA"/>
          </a:solidFill>
          <a:ln w="3810">
            <a:solidFill>
              <a:srgbClr val="DDE3EE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0080" y="21122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Dashboard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640080" y="23682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Balance, Income &amp; Expense stats visible immediately.</a:t>
            </a:r>
            <a:endParaRPr lang="en-US" sz="850" dirty="0"/>
          </a:p>
        </p:txBody>
      </p:sp>
      <p:sp>
        <p:nvSpPr>
          <p:cNvPr id="22" name="Shape 18"/>
          <p:cNvSpPr/>
          <p:nvPr/>
        </p:nvSpPr>
        <p:spPr>
          <a:xfrm>
            <a:off x="3493008" y="2112264"/>
            <a:ext cx="914400" cy="548640"/>
          </a:xfrm>
          <a:prstGeom prst="rect">
            <a:avLst/>
          </a:prstGeom>
          <a:solidFill>
            <a:srgbClr val="F5F0FF"/>
          </a:solidFill>
          <a:ln w="3810">
            <a:solidFill>
              <a:srgbClr val="C4B5FD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529584" y="211226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defineProps(['total','income'])</a:t>
            </a:r>
            <a:endParaRPr lang="en-US" sz="750" dirty="0"/>
          </a:p>
        </p:txBody>
      </p:sp>
      <p:sp>
        <p:nvSpPr>
          <p:cNvPr id="24" name="Shape 20"/>
          <p:cNvSpPr/>
          <p:nvPr/>
        </p:nvSpPr>
        <p:spPr>
          <a:xfrm>
            <a:off x="201168" y="2807208"/>
            <a:ext cx="329184" cy="5486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25" name="Text 21"/>
          <p:cNvSpPr/>
          <p:nvPr/>
        </p:nvSpPr>
        <p:spPr>
          <a:xfrm>
            <a:off x="201168" y="2807208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548640" y="2807208"/>
            <a:ext cx="292608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0080" y="280720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Filter Chip</a:t>
            </a:r>
            <a:endParaRPr lang="en-US" sz="950" dirty="0"/>
          </a:p>
        </p:txBody>
      </p:sp>
      <p:sp>
        <p:nvSpPr>
          <p:cNvPr id="28" name="Text 24"/>
          <p:cNvSpPr/>
          <p:nvPr/>
        </p:nvSpPr>
        <p:spPr>
          <a:xfrm>
            <a:off x="64008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picks All, Income, or Expense chip.</a:t>
            </a:r>
            <a:endParaRPr lang="en-US" sz="850" dirty="0"/>
          </a:p>
        </p:txBody>
      </p:sp>
      <p:sp>
        <p:nvSpPr>
          <p:cNvPr id="29" name="Shape 25"/>
          <p:cNvSpPr/>
          <p:nvPr/>
        </p:nvSpPr>
        <p:spPr>
          <a:xfrm>
            <a:off x="3493008" y="2807208"/>
            <a:ext cx="914400" cy="548640"/>
          </a:xfrm>
          <a:prstGeom prst="rect">
            <a:avLst/>
          </a:prstGeom>
          <a:solidFill>
            <a:srgbClr val="F5F0FF"/>
          </a:solidFill>
          <a:ln w="3810">
            <a:solidFill>
              <a:srgbClr val="C4B5FD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3529584" y="280720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activeFilter.value updated @click</a:t>
            </a:r>
            <a:endParaRPr lang="en-US" sz="750" dirty="0"/>
          </a:p>
        </p:txBody>
      </p:sp>
      <p:sp>
        <p:nvSpPr>
          <p:cNvPr id="31" name="Shape 27"/>
          <p:cNvSpPr/>
          <p:nvPr/>
        </p:nvSpPr>
        <p:spPr>
          <a:xfrm>
            <a:off x="201168" y="3502152"/>
            <a:ext cx="329184" cy="5486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2" name="Text 28"/>
          <p:cNvSpPr/>
          <p:nvPr/>
        </p:nvSpPr>
        <p:spPr>
          <a:xfrm>
            <a:off x="201168" y="3502152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Shape 29"/>
          <p:cNvSpPr/>
          <p:nvPr/>
        </p:nvSpPr>
        <p:spPr>
          <a:xfrm>
            <a:off x="548640" y="3502152"/>
            <a:ext cx="2926080" cy="548640"/>
          </a:xfrm>
          <a:prstGeom prst="rect">
            <a:avLst/>
          </a:prstGeom>
          <a:solidFill>
            <a:srgbClr val="F0F4FA"/>
          </a:solidFill>
          <a:ln w="3810">
            <a:solidFill>
              <a:srgbClr val="DDE3EE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640080" y="35021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View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640080" y="3758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matching items shown, sorted newest-first.</a:t>
            </a:r>
            <a:endParaRPr lang="en-US" sz="850" dirty="0"/>
          </a:p>
        </p:txBody>
      </p:sp>
      <p:sp>
        <p:nvSpPr>
          <p:cNvPr id="36" name="Shape 32"/>
          <p:cNvSpPr/>
          <p:nvPr/>
        </p:nvSpPr>
        <p:spPr>
          <a:xfrm>
            <a:off x="3493008" y="3502152"/>
            <a:ext cx="914400" cy="548640"/>
          </a:xfrm>
          <a:prstGeom prst="rect">
            <a:avLst/>
          </a:prstGeom>
          <a:solidFill>
            <a:srgbClr val="F5F0FF"/>
          </a:solidFill>
          <a:ln w="3810">
            <a:solidFill>
              <a:srgbClr val="C4B5FD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3529584" y="350215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filteredTransactions computed()</a:t>
            </a:r>
            <a:endParaRPr lang="en-US" sz="750" dirty="0"/>
          </a:p>
        </p:txBody>
      </p:sp>
      <p:sp>
        <p:nvSpPr>
          <p:cNvPr id="38" name="Shape 34"/>
          <p:cNvSpPr/>
          <p:nvPr/>
        </p:nvSpPr>
        <p:spPr>
          <a:xfrm>
            <a:off x="201168" y="4197096"/>
            <a:ext cx="329184" cy="54864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39" name="Text 35"/>
          <p:cNvSpPr/>
          <p:nvPr/>
        </p:nvSpPr>
        <p:spPr>
          <a:xfrm>
            <a:off x="201168" y="4197096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48640" y="4197096"/>
            <a:ext cx="292608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40080" y="41970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to All</a:t>
            </a:r>
            <a:endParaRPr lang="en-US" sz="950" dirty="0"/>
          </a:p>
        </p:txBody>
      </p:sp>
      <p:sp>
        <p:nvSpPr>
          <p:cNvPr id="42" name="Text 38"/>
          <p:cNvSpPr/>
          <p:nvPr/>
        </p:nvSpPr>
        <p:spPr>
          <a:xfrm>
            <a:off x="640080" y="4453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taps 'All'. Full list restores instantly.</a:t>
            </a:r>
            <a:endParaRPr lang="en-US" sz="850" dirty="0"/>
          </a:p>
        </p:txBody>
      </p:sp>
      <p:sp>
        <p:nvSpPr>
          <p:cNvPr id="43" name="Shape 39"/>
          <p:cNvSpPr/>
          <p:nvPr/>
        </p:nvSpPr>
        <p:spPr>
          <a:xfrm>
            <a:off x="3493008" y="4197096"/>
            <a:ext cx="914400" cy="548640"/>
          </a:xfrm>
          <a:prstGeom prst="rect">
            <a:avLst/>
          </a:prstGeom>
          <a:solidFill>
            <a:srgbClr val="F5F0FF"/>
          </a:solidFill>
          <a:ln w="3810">
            <a:solidFill>
              <a:srgbClr val="C4B5FD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3529584" y="419709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C6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activeFilter.value = 'all'</a:t>
            </a:r>
            <a:endParaRPr lang="en-US" sz="750" dirty="0"/>
          </a:p>
        </p:txBody>
      </p:sp>
      <p:sp>
        <p:nvSpPr>
          <p:cNvPr id="45" name="Shape 41"/>
          <p:cNvSpPr/>
          <p:nvPr/>
        </p:nvSpPr>
        <p:spPr>
          <a:xfrm>
            <a:off x="4736592" y="987552"/>
            <a:ext cx="4206240" cy="347472"/>
          </a:xfrm>
          <a:prstGeom prst="rect">
            <a:avLst/>
          </a:prstGeom>
          <a:solidFill>
            <a:srgbClr val="FF5B79">
              <a:alpha val="85000"/>
            </a:srgbClr>
          </a:solidFill>
          <a:ln/>
        </p:spPr>
      </p:sp>
      <p:pic>
        <p:nvPicPr>
          <p:cNvPr id="4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1042416"/>
            <a:ext cx="237744" cy="237744"/>
          </a:xfrm>
          <a:prstGeom prst="rect">
            <a:avLst/>
          </a:prstGeom>
        </p:spPr>
      </p:pic>
      <p:sp>
        <p:nvSpPr>
          <p:cNvPr id="47" name="Text 42"/>
          <p:cNvSpPr/>
          <p:nvPr/>
        </p:nvSpPr>
        <p:spPr>
          <a:xfrm>
            <a:off x="5084064" y="98755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&amp; Reset Flow</a:t>
            </a:r>
            <a:endParaRPr lang="en-US" sz="1300" dirty="0"/>
          </a:p>
        </p:txBody>
      </p:sp>
      <p:sp>
        <p:nvSpPr>
          <p:cNvPr id="48" name="Shape 43"/>
          <p:cNvSpPr/>
          <p:nvPr/>
        </p:nvSpPr>
        <p:spPr>
          <a:xfrm>
            <a:off x="4736592" y="1417320"/>
            <a:ext cx="329184" cy="548640"/>
          </a:xfrm>
          <a:prstGeom prst="rect">
            <a:avLst/>
          </a:prstGeom>
          <a:solidFill>
            <a:srgbClr val="FF5B79"/>
          </a:solidFill>
          <a:ln/>
        </p:spPr>
      </p:sp>
      <p:sp>
        <p:nvSpPr>
          <p:cNvPr id="49" name="Text 44"/>
          <p:cNvSpPr/>
          <p:nvPr/>
        </p:nvSpPr>
        <p:spPr>
          <a:xfrm>
            <a:off x="4736592" y="1417320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0" name="Shape 45"/>
          <p:cNvSpPr/>
          <p:nvPr/>
        </p:nvSpPr>
        <p:spPr>
          <a:xfrm>
            <a:off x="5084064" y="1417320"/>
            <a:ext cx="292608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175504" y="14173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a Transaction</a:t>
            </a:r>
            <a:endParaRPr lang="en-US" sz="950" dirty="0"/>
          </a:p>
        </p:txBody>
      </p:sp>
      <p:sp>
        <p:nvSpPr>
          <p:cNvPr id="52" name="Text 47"/>
          <p:cNvSpPr/>
          <p:nvPr/>
        </p:nvSpPr>
        <p:spPr>
          <a:xfrm>
            <a:off x="5175504" y="16733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delete button (✕) fades in on hover.</a:t>
            </a:r>
            <a:endParaRPr lang="en-US" sz="850" dirty="0"/>
          </a:p>
        </p:txBody>
      </p:sp>
      <p:sp>
        <p:nvSpPr>
          <p:cNvPr id="53" name="Shape 48"/>
          <p:cNvSpPr/>
          <p:nvPr/>
        </p:nvSpPr>
        <p:spPr>
          <a:xfrm>
            <a:off x="8028432" y="1417320"/>
            <a:ext cx="914400" cy="548640"/>
          </a:xfrm>
          <a:prstGeom prst="rect">
            <a:avLst/>
          </a:prstGeom>
          <a:solidFill>
            <a:srgbClr val="FFF0F3"/>
          </a:solidFill>
          <a:ln w="3810">
            <a:solidFill>
              <a:srgbClr val="FCA5A5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8065008" y="141732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5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opacity:0 → opacity:1 on hover</a:t>
            </a:r>
            <a:endParaRPr lang="en-US" sz="750" dirty="0"/>
          </a:p>
        </p:txBody>
      </p:sp>
      <p:sp>
        <p:nvSpPr>
          <p:cNvPr id="55" name="Shape 50"/>
          <p:cNvSpPr/>
          <p:nvPr/>
        </p:nvSpPr>
        <p:spPr>
          <a:xfrm>
            <a:off x="4736592" y="2112264"/>
            <a:ext cx="329184" cy="548640"/>
          </a:xfrm>
          <a:prstGeom prst="rect">
            <a:avLst/>
          </a:prstGeom>
          <a:solidFill>
            <a:srgbClr val="FF5B79"/>
          </a:solidFill>
          <a:ln/>
        </p:spPr>
      </p:sp>
      <p:sp>
        <p:nvSpPr>
          <p:cNvPr id="56" name="Text 51"/>
          <p:cNvSpPr/>
          <p:nvPr/>
        </p:nvSpPr>
        <p:spPr>
          <a:xfrm>
            <a:off x="4736592" y="2112264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7" name="Shape 52"/>
          <p:cNvSpPr/>
          <p:nvPr/>
        </p:nvSpPr>
        <p:spPr>
          <a:xfrm>
            <a:off x="5084064" y="2112264"/>
            <a:ext cx="2926080" cy="548640"/>
          </a:xfrm>
          <a:prstGeom prst="rect">
            <a:avLst/>
          </a:prstGeom>
          <a:solidFill>
            <a:srgbClr val="FFF5F6"/>
          </a:solidFill>
          <a:ln w="3810">
            <a:solidFill>
              <a:srgbClr val="DDE3EE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5175504" y="211226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Delete (✕)</a:t>
            </a:r>
            <a:endParaRPr lang="en-US" sz="950" dirty="0"/>
          </a:p>
        </p:txBody>
      </p:sp>
      <p:sp>
        <p:nvSpPr>
          <p:cNvPr id="59" name="Text 54"/>
          <p:cNvSpPr/>
          <p:nvPr/>
        </p:nvSpPr>
        <p:spPr>
          <a:xfrm>
            <a:off x="5175504" y="236829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removed. Balance updates instantly.</a:t>
            </a:r>
            <a:endParaRPr lang="en-US" sz="850" dirty="0"/>
          </a:p>
        </p:txBody>
      </p:sp>
      <p:sp>
        <p:nvSpPr>
          <p:cNvPr id="60" name="Shape 55"/>
          <p:cNvSpPr/>
          <p:nvPr/>
        </p:nvSpPr>
        <p:spPr>
          <a:xfrm>
            <a:off x="8028432" y="2112264"/>
            <a:ext cx="914400" cy="548640"/>
          </a:xfrm>
          <a:prstGeom prst="rect">
            <a:avLst/>
          </a:prstGeom>
          <a:solidFill>
            <a:srgbClr val="FFF0F3"/>
          </a:solidFill>
          <a:ln w="3810">
            <a:solidFill>
              <a:srgbClr val="FCA5A5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8065008" y="211226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5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emit('delete', tx.id) — defineEmits</a:t>
            </a:r>
            <a:endParaRPr lang="en-US" sz="750" dirty="0"/>
          </a:p>
        </p:txBody>
      </p:sp>
      <p:sp>
        <p:nvSpPr>
          <p:cNvPr id="62" name="Shape 57"/>
          <p:cNvSpPr/>
          <p:nvPr/>
        </p:nvSpPr>
        <p:spPr>
          <a:xfrm>
            <a:off x="4736592" y="2807208"/>
            <a:ext cx="329184" cy="548640"/>
          </a:xfrm>
          <a:prstGeom prst="rect">
            <a:avLst/>
          </a:prstGeom>
          <a:solidFill>
            <a:srgbClr val="FF5B79"/>
          </a:solidFill>
          <a:ln/>
        </p:spPr>
      </p:sp>
      <p:sp>
        <p:nvSpPr>
          <p:cNvPr id="63" name="Text 58"/>
          <p:cNvSpPr/>
          <p:nvPr/>
        </p:nvSpPr>
        <p:spPr>
          <a:xfrm>
            <a:off x="4736592" y="2807208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64" name="Shape 59"/>
          <p:cNvSpPr/>
          <p:nvPr/>
        </p:nvSpPr>
        <p:spPr>
          <a:xfrm>
            <a:off x="5084064" y="2807208"/>
            <a:ext cx="292608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175504" y="280720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Handles</a:t>
            </a:r>
            <a:endParaRPr lang="en-US" sz="950" dirty="0"/>
          </a:p>
        </p:txBody>
      </p:sp>
      <p:sp>
        <p:nvSpPr>
          <p:cNvPr id="66" name="Text 61"/>
          <p:cNvSpPr/>
          <p:nvPr/>
        </p:nvSpPr>
        <p:spPr>
          <a:xfrm>
            <a:off x="5175504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App.vue filters the transactions array.</a:t>
            </a:r>
            <a:endParaRPr lang="en-US" sz="850" dirty="0"/>
          </a:p>
        </p:txBody>
      </p:sp>
      <p:sp>
        <p:nvSpPr>
          <p:cNvPr id="67" name="Shape 62"/>
          <p:cNvSpPr/>
          <p:nvPr/>
        </p:nvSpPr>
        <p:spPr>
          <a:xfrm>
            <a:off x="8028432" y="2807208"/>
            <a:ext cx="914400" cy="548640"/>
          </a:xfrm>
          <a:prstGeom prst="rect">
            <a:avLst/>
          </a:prstGeom>
          <a:solidFill>
            <a:srgbClr val="FFF0F3"/>
          </a:solidFill>
          <a:ln w="3810">
            <a:solidFill>
              <a:srgbClr val="FCA5A5"/>
            </a:solidFill>
            <a:prstDash val="solid"/>
          </a:ln>
        </p:spPr>
      </p:sp>
      <p:sp>
        <p:nvSpPr>
          <p:cNvPr id="68" name="Text 63"/>
          <p:cNvSpPr/>
          <p:nvPr/>
        </p:nvSpPr>
        <p:spPr>
          <a:xfrm>
            <a:off x="8065008" y="2807208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5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deleteTransaction(id) → filter()</a:t>
            </a:r>
            <a:endParaRPr lang="en-US" sz="750" dirty="0"/>
          </a:p>
        </p:txBody>
      </p:sp>
      <p:sp>
        <p:nvSpPr>
          <p:cNvPr id="69" name="Shape 64"/>
          <p:cNvSpPr/>
          <p:nvPr/>
        </p:nvSpPr>
        <p:spPr>
          <a:xfrm>
            <a:off x="4736592" y="3502152"/>
            <a:ext cx="329184" cy="548640"/>
          </a:xfrm>
          <a:prstGeom prst="rect">
            <a:avLst/>
          </a:prstGeom>
          <a:solidFill>
            <a:srgbClr val="FF5B79"/>
          </a:solidFill>
          <a:ln/>
        </p:spPr>
      </p:sp>
      <p:sp>
        <p:nvSpPr>
          <p:cNvPr id="70" name="Text 65"/>
          <p:cNvSpPr/>
          <p:nvPr/>
        </p:nvSpPr>
        <p:spPr>
          <a:xfrm>
            <a:off x="4736592" y="3502152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71" name="Shape 66"/>
          <p:cNvSpPr/>
          <p:nvPr/>
        </p:nvSpPr>
        <p:spPr>
          <a:xfrm>
            <a:off x="5084064" y="3502152"/>
            <a:ext cx="2926080" cy="548640"/>
          </a:xfrm>
          <a:prstGeom prst="rect">
            <a:avLst/>
          </a:prstGeom>
          <a:solidFill>
            <a:srgbClr val="FFF5F6"/>
          </a:solidFill>
          <a:ln w="3810">
            <a:solidFill>
              <a:srgbClr val="DDE3EE"/>
            </a:solidFill>
            <a:prstDash val="solid"/>
          </a:ln>
        </p:spPr>
      </p:sp>
      <p:sp>
        <p:nvSpPr>
          <p:cNvPr id="72" name="Text 67"/>
          <p:cNvSpPr/>
          <p:nvPr/>
        </p:nvSpPr>
        <p:spPr>
          <a:xfrm>
            <a:off x="5175504" y="350215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Toast Confirmation</a:t>
            </a:r>
            <a:endParaRPr lang="en-US" sz="950" dirty="0"/>
          </a:p>
        </p:txBody>
      </p:sp>
      <p:sp>
        <p:nvSpPr>
          <p:cNvPr id="73" name="Text 68"/>
          <p:cNvSpPr/>
          <p:nvPr/>
        </p:nvSpPr>
        <p:spPr>
          <a:xfrm>
            <a:off x="5175504" y="3758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toast: 'Transaction removed.' Auto-dismisses.</a:t>
            </a:r>
            <a:endParaRPr lang="en-US" sz="850" dirty="0"/>
          </a:p>
        </p:txBody>
      </p:sp>
      <p:sp>
        <p:nvSpPr>
          <p:cNvPr id="74" name="Shape 69"/>
          <p:cNvSpPr/>
          <p:nvPr/>
        </p:nvSpPr>
        <p:spPr>
          <a:xfrm>
            <a:off x="8028432" y="3502152"/>
            <a:ext cx="914400" cy="548640"/>
          </a:xfrm>
          <a:prstGeom prst="rect">
            <a:avLst/>
          </a:prstGeom>
          <a:solidFill>
            <a:srgbClr val="FFF0F3"/>
          </a:solidFill>
          <a:ln w="3810">
            <a:solidFill>
              <a:srgbClr val="FCA5A5"/>
            </a:solidFill>
            <a:prstDash val="solid"/>
          </a:ln>
        </p:spPr>
      </p:sp>
      <p:sp>
        <p:nvSpPr>
          <p:cNvPr id="75" name="Text 70"/>
          <p:cNvSpPr/>
          <p:nvPr/>
        </p:nvSpPr>
        <p:spPr>
          <a:xfrm>
            <a:off x="8065008" y="3502152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5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showToast() → setTimeout clears</a:t>
            </a:r>
            <a:endParaRPr lang="en-US" sz="750" dirty="0"/>
          </a:p>
        </p:txBody>
      </p:sp>
      <p:sp>
        <p:nvSpPr>
          <p:cNvPr id="76" name="Shape 71"/>
          <p:cNvSpPr/>
          <p:nvPr/>
        </p:nvSpPr>
        <p:spPr>
          <a:xfrm>
            <a:off x="4736592" y="4197096"/>
            <a:ext cx="329184" cy="548640"/>
          </a:xfrm>
          <a:prstGeom prst="rect">
            <a:avLst/>
          </a:prstGeom>
          <a:solidFill>
            <a:srgbClr val="FF5B79"/>
          </a:solidFill>
          <a:ln/>
        </p:spPr>
      </p:sp>
      <p:sp>
        <p:nvSpPr>
          <p:cNvPr id="77" name="Text 72"/>
          <p:cNvSpPr/>
          <p:nvPr/>
        </p:nvSpPr>
        <p:spPr>
          <a:xfrm>
            <a:off x="4736592" y="4197096"/>
            <a:ext cx="329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78" name="Shape 73"/>
          <p:cNvSpPr/>
          <p:nvPr/>
        </p:nvSpPr>
        <p:spPr>
          <a:xfrm>
            <a:off x="5084064" y="4197096"/>
            <a:ext cx="2926080" cy="548640"/>
          </a:xfrm>
          <a:prstGeom prst="rect">
            <a:avLst/>
          </a:prstGeom>
          <a:solidFill>
            <a:srgbClr val="FFFFFF"/>
          </a:solidFill>
          <a:ln w="3810">
            <a:solidFill>
              <a:srgbClr val="DDE3EE"/>
            </a:solidFill>
            <a:prstDash val="solid"/>
          </a:ln>
        </p:spPr>
      </p:sp>
      <p:sp>
        <p:nvSpPr>
          <p:cNvPr id="79" name="Text 74"/>
          <p:cNvSpPr/>
          <p:nvPr/>
        </p:nvSpPr>
        <p:spPr>
          <a:xfrm>
            <a:off x="5175504" y="419709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All (Optional)</a:t>
            </a:r>
            <a:endParaRPr lang="en-US" sz="950" dirty="0"/>
          </a:p>
        </p:txBody>
      </p:sp>
      <p:sp>
        <p:nvSpPr>
          <p:cNvPr id="80" name="Text 75"/>
          <p:cNvSpPr/>
          <p:nvPr/>
        </p:nvSpPr>
        <p:spPr>
          <a:xfrm>
            <a:off x="5175504" y="4453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Resets entire state. Confirms via info toast.</a:t>
            </a:r>
            <a:endParaRPr lang="en-US" sz="850" dirty="0"/>
          </a:p>
        </p:txBody>
      </p:sp>
      <p:sp>
        <p:nvSpPr>
          <p:cNvPr id="81" name="Shape 76"/>
          <p:cNvSpPr/>
          <p:nvPr/>
        </p:nvSpPr>
        <p:spPr>
          <a:xfrm>
            <a:off x="8028432" y="4197096"/>
            <a:ext cx="914400" cy="548640"/>
          </a:xfrm>
          <a:prstGeom prst="rect">
            <a:avLst/>
          </a:prstGeom>
          <a:solidFill>
            <a:srgbClr val="FFF0F3"/>
          </a:solidFill>
          <a:ln w="3810">
            <a:solidFill>
              <a:srgbClr val="FCA5A5"/>
            </a:solidFill>
            <a:prstDash val="solid"/>
          </a:ln>
        </p:spPr>
      </p:sp>
      <p:sp>
        <p:nvSpPr>
          <p:cNvPr id="82" name="Text 77"/>
          <p:cNvSpPr/>
          <p:nvPr/>
        </p:nvSpPr>
        <p:spPr>
          <a:xfrm>
            <a:off x="8065008" y="4197096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FF5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transactions.value = [] → save</a:t>
            </a:r>
            <a:endParaRPr lang="en-US" sz="750" dirty="0"/>
          </a:p>
        </p:txBody>
      </p:sp>
      <p:sp>
        <p:nvSpPr>
          <p:cNvPr id="83" name="Shape 78"/>
          <p:cNvSpPr/>
          <p:nvPr/>
        </p:nvSpPr>
        <p:spPr>
          <a:xfrm>
            <a:off x="4526280" y="987552"/>
            <a:ext cx="73152" cy="3977640"/>
          </a:xfrm>
          <a:prstGeom prst="rect">
            <a:avLst/>
          </a:prstGeom>
          <a:solidFill>
            <a:srgbClr val="DDE3EE"/>
          </a:solidFill>
          <a:ln/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" name="Shape 1"/>
          <p:cNvSpPr/>
          <p:nvPr/>
        </p:nvSpPr>
        <p:spPr>
          <a:xfrm>
            <a:off x="5505450" y="-182880"/>
            <a:ext cx="4572000" cy="4572000"/>
          </a:xfrm>
          <a:prstGeom prst="ellipse">
            <a:avLst/>
          </a:prstGeom>
          <a:solidFill>
            <a:srgbClr val="1E4976">
              <a:alpha val="30000"/>
            </a:srgbClr>
          </a:solidFill>
          <a:ln w="12700">
            <a:solidFill>
              <a:srgbClr val="1E497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560320"/>
            <a:ext cx="2743200" cy="2743200"/>
          </a:xfrm>
          <a:prstGeom prst="ellipse">
            <a:avLst/>
          </a:prstGeom>
          <a:solidFill>
            <a:srgbClr val="00C896">
              <a:alpha val="15000"/>
            </a:srgbClr>
          </a:solidFill>
          <a:ln w="12700">
            <a:solidFill>
              <a:srgbClr val="00C896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1298448"/>
            <a:ext cx="2011680" cy="27432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2984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EXPENSE TRACKER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411480" y="1664208"/>
            <a:ext cx="5486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600" dirty="0" smtClean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 xml:space="preserve">THANK </a:t>
            </a:r>
            <a:r>
              <a:rPr lang="en-US" sz="4600" dirty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YOU</a:t>
            </a:r>
            <a:r>
              <a:rPr lang="en-US" sz="4600" dirty="0" smtClean="0">
                <a:solidFill>
                  <a:schemeClr val="accent4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!</a:t>
            </a:r>
            <a:endParaRPr lang="en-US" sz="4600" dirty="0">
              <a:solidFill>
                <a:schemeClr val="accent4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949440" y="594360"/>
            <a:ext cx="1920240" cy="868680"/>
          </a:xfrm>
          <a:prstGeom prst="rect">
            <a:avLst/>
          </a:prstGeom>
          <a:solidFill>
            <a:srgbClr val="1A2F4A"/>
          </a:solidFill>
          <a:ln w="19050">
            <a:solidFill>
              <a:srgbClr val="00C89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949440" y="594360"/>
            <a:ext cx="109728" cy="86868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2" name="Text 9"/>
          <p:cNvSpPr/>
          <p:nvPr/>
        </p:nvSpPr>
        <p:spPr>
          <a:xfrm>
            <a:off x="7150608" y="685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SAFE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150608" y="10515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949440" y="1645920"/>
            <a:ext cx="1920240" cy="868680"/>
          </a:xfrm>
          <a:prstGeom prst="rect">
            <a:avLst/>
          </a:prstGeom>
          <a:solidFill>
            <a:srgbClr val="1A2F4A"/>
          </a:solidFill>
          <a:ln w="19050">
            <a:solidFill>
              <a:srgbClr val="4FC3F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949440" y="1645920"/>
            <a:ext cx="109728" cy="868680"/>
          </a:xfrm>
          <a:prstGeom prst="rect">
            <a:avLst/>
          </a:prstGeom>
          <a:solidFill>
            <a:srgbClr val="4FC3F7"/>
          </a:solidFill>
          <a:ln/>
        </p:spPr>
      </p:sp>
      <p:sp>
        <p:nvSpPr>
          <p:cNvPr id="16" name="Text 13"/>
          <p:cNvSpPr/>
          <p:nvPr/>
        </p:nvSpPr>
        <p:spPr>
          <a:xfrm>
            <a:off x="7150608" y="173736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BUDGET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150608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949440" y="2697480"/>
            <a:ext cx="1920240" cy="868680"/>
          </a:xfrm>
          <a:prstGeom prst="rect">
            <a:avLst/>
          </a:prstGeom>
          <a:solidFill>
            <a:srgbClr val="1A2F4A"/>
          </a:solidFill>
          <a:ln w="19050">
            <a:solidFill>
              <a:srgbClr val="FFD1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949440" y="2697480"/>
            <a:ext cx="109728" cy="86868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20" name="Text 17"/>
          <p:cNvSpPr/>
          <p:nvPr/>
        </p:nvSpPr>
        <p:spPr>
          <a:xfrm>
            <a:off x="7150608" y="27889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RELIABLE</a:t>
            </a:r>
            <a:endParaRPr lang="en-US" sz="1600" b="1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7150608" y="3154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7150608" y="384048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150608" y="42062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46247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Left"/>
          <p:cNvSpPr/>
          <p:nvPr/>
        </p:nvSpPr>
        <p:spPr>
          <a:xfrm>
            <a:off x="0" y="0"/>
            <a:ext cx="3657600" cy="5144806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BgRight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F4F7FB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" y="274320"/>
            <a:ext cx="502920" cy="502920"/>
          </a:xfrm>
          <a:prstGeom prst="rect">
            <a:avLst/>
          </a:prstGeom>
        </p:spPr>
      </p:pic>
      <p:sp>
        <p:nvSpPr>
          <p:cNvPr id="5" name="Tag"/>
          <p:cNvSpPr/>
          <p:nvPr/>
        </p:nvSpPr>
        <p:spPr>
          <a:xfrm>
            <a:off x="347472" y="960000"/>
            <a:ext cx="2600000" cy="260000"/>
          </a:xfrm>
          <a:prstGeom prst="rect">
            <a:avLst/>
          </a:prstGeom>
          <a:solidFill>
            <a:srgbClr val="00C896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</a:rPr>
              <a:t>SECURITY</a:t>
            </a:r>
          </a:p>
        </p:txBody>
      </p:sp>
      <p:sp>
        <p:nvSpPr>
          <p:cNvPr id="6" name="Title"/>
          <p:cNvSpPr/>
          <p:nvPr/>
        </p:nvSpPr>
        <p:spPr>
          <a:xfrm>
            <a:off x="347472" y="1280000"/>
            <a:ext cx="3017520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</a:rPr>
              <a:t>Enforcing Security</a:t>
            </a:r>
          </a:p>
        </p:txBody>
      </p:sp>
      <p:sp>
        <p:nvSpPr>
          <p:cNvPr id="7" name="Subtitle"/>
          <p:cNvSpPr/>
          <p:nvPr/>
        </p:nvSpPr>
        <p:spPr>
          <a:xfrm>
            <a:off x="347472" y="1800000"/>
            <a:ext cx="301752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0C896"/>
                </a:solidFill>
                <a:latin typeface="Calibri" pitchFamily="34" charset="0"/>
              </a:rPr>
              <a:t>Protecting user data &amp; app integrity</a:t>
            </a:r>
          </a:p>
        </p:txBody>
      </p:sp>
      <p:sp>
        <p:nvSpPr>
          <p:cNvPr id="8" name="Divider"/>
          <p:cNvSpPr/>
          <p:nvPr/>
        </p:nvSpPr>
        <p:spPr>
          <a:xfrm>
            <a:off x="347472" y="2150000"/>
            <a:ext cx="2971800" cy="27432"/>
          </a:xfrm>
          <a:prstGeom prst="rect">
            <a:avLst/>
          </a:prstGeom>
          <a:solidFill>
            <a:srgbClr val="00C896">
              <a:alpha val="50000"/>
            </a:srgbClr>
          </a:solidFill>
          <a:ln/>
        </p:spPr>
      </p:sp>
      <p:sp>
        <p:nvSpPr>
          <p:cNvPr id="9" name="BodyText"/>
          <p:cNvSpPr/>
          <p:nvPr/>
        </p:nvSpPr>
        <p:spPr>
          <a:xfrm>
            <a:off x="347472" y="2210000"/>
            <a:ext cx="2971800" cy="1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E8EAF6"/>
                </a:solidFill>
                <a:latin typeface="Calibri" pitchFamily="34" charset="0"/>
              </a:rPr>
              <a:t>The Expense Tracker enforces security via a local-first, zero-server architecture. All financial data stays on the user’s device — never exposed to third parties or remote APIs.</a:t>
            </a:r>
          </a:p>
        </p:txBody>
      </p:sp>
      <p:sp>
        <p:nvSpPr>
          <p:cNvPr id="10" name="CalloutBg"/>
          <p:cNvSpPr/>
          <p:nvPr/>
        </p:nvSpPr>
        <p:spPr>
          <a:xfrm>
            <a:off x="370332" y="3800000"/>
            <a:ext cx="2971800" cy="900000"/>
          </a:xfrm>
          <a:prstGeom prst="rect">
            <a:avLst/>
          </a:prstGeom>
          <a:solidFill>
            <a:srgbClr val="1E4976"/>
          </a:solidFill>
          <a:ln/>
        </p:spPr>
      </p:sp>
      <p:sp>
        <p:nvSpPr>
          <p:cNvPr id="11" name="CalloutText"/>
          <p:cNvSpPr/>
          <p:nvPr/>
        </p:nvSpPr>
        <p:spPr>
          <a:xfrm>
            <a:off x="457200" y="3820000"/>
            <a:ext cx="2800000" cy="86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b="1" dirty="0">
                <a:solidFill>
                  <a:srgbClr val="00C896"/>
                </a:solidFill>
                <a:latin typeface="Calibri" pitchFamily="34" charset="0"/>
              </a:rPr>
              <a:t>🔒 Security Guarantee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</a:rPr>
              <a:t>No login. No cloud sync. No data leaks. 100% offline after initial load.</a:t>
            </a:r>
          </a:p>
        </p:txBody>
      </p:sp>
      <p:sp>
        <p:nvSpPr>
          <p:cNvPr id="12" name="RightHeader"/>
          <p:cNvSpPr/>
          <p:nvPr/>
        </p:nvSpPr>
        <p:spPr>
          <a:xfrm>
            <a:off x="3840480" y="274320"/>
            <a:ext cx="507492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D1B2A"/>
                </a:solidFill>
                <a:latin typeface="Calibri" pitchFamily="34" charset="0"/>
              </a:rPr>
              <a:t>Security Enforcement Layers</a:t>
            </a:r>
          </a:p>
        </p:txBody>
      </p:sp>
      <p:sp>
        <p:nvSpPr>
          <p:cNvPr id="13" name="RightSub"/>
          <p:cNvSpPr/>
          <p:nvPr/>
        </p:nvSpPr>
        <p:spPr>
          <a:xfrm>
            <a:off x="3840480" y="700000"/>
            <a:ext cx="507492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</a:rPr>
              <a:t>How the app enforces security at every level</a:t>
            </a:r>
          </a:p>
        </p:txBody>
      </p:sp>
      <p:sp>
        <p:nvSpPr>
          <p:cNvPr id="14" name="R1Bg"/>
          <p:cNvSpPr/>
          <p:nvPr/>
        </p:nvSpPr>
        <p:spPr>
          <a:xfrm>
            <a:off x="3840480" y="1060000"/>
            <a:ext cx="5074920" cy="530000"/>
          </a:xfrm>
          <a:prstGeom prst="rect">
            <a:avLst/>
          </a:prstGeom>
          <a:solidFill>
            <a:srgbClr val="F0F4FA"/>
          </a:solidFill>
          <a:ln w="6350">
            <a:solidFill>
              <a:srgbClr val="DDE3EE"/>
            </a:solidFill>
          </a:ln>
        </p:spPr>
      </p:sp>
      <p:sp>
        <p:nvSpPr>
          <p:cNvPr id="15" name="R1Acc"/>
          <p:cNvSpPr/>
          <p:nvPr/>
        </p:nvSpPr>
        <p:spPr>
          <a:xfrm>
            <a:off x="3840480" y="1060000"/>
            <a:ext cx="73152" cy="53000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6" name="R1Ico"/>
          <p:cNvSpPr/>
          <p:nvPr/>
        </p:nvSpPr>
        <p:spPr>
          <a:xfrm>
            <a:off x="3960000" y="1060000"/>
            <a:ext cx="420000" cy="5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💾</a:t>
            </a:r>
          </a:p>
        </p:txBody>
      </p:sp>
      <p:sp>
        <p:nvSpPr>
          <p:cNvPr id="17" name="R1Txt"/>
          <p:cNvSpPr/>
          <p:nvPr/>
        </p:nvSpPr>
        <p:spPr>
          <a:xfrm>
            <a:off x="4430000" y="1060000"/>
            <a:ext cx="4380000" cy="530000"/>
          </a:xfrm>
          <a:prstGeom prst="rect">
            <a:avLst/>
          </a:prstGeom>
          <a:noFill/>
          <a:ln/>
        </p:spPr>
        <p:txBody>
          <a:bodyPr wrap="square" lIns="0" tIns="400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</a:rPr>
              <a:t>localStorage-Only Persistence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</a:rPr>
              <a:t>Data never leaves the browser. No API calls for user data.</a:t>
            </a:r>
          </a:p>
        </p:txBody>
      </p:sp>
      <p:sp>
        <p:nvSpPr>
          <p:cNvPr id="18" name="R2Bg"/>
          <p:cNvSpPr/>
          <p:nvPr/>
        </p:nvSpPr>
        <p:spPr>
          <a:xfrm>
            <a:off x="3840480" y="1660000"/>
            <a:ext cx="5074920" cy="5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</a:ln>
        </p:spPr>
      </p:sp>
      <p:sp>
        <p:nvSpPr>
          <p:cNvPr id="19" name="R2Acc"/>
          <p:cNvSpPr/>
          <p:nvPr/>
        </p:nvSpPr>
        <p:spPr>
          <a:xfrm>
            <a:off x="3840480" y="1660000"/>
            <a:ext cx="73152" cy="530000"/>
          </a:xfrm>
          <a:prstGeom prst="rect">
            <a:avLst/>
          </a:prstGeom>
          <a:solidFill>
            <a:srgbClr val="FF5B79"/>
          </a:solidFill>
          <a:ln/>
        </p:spPr>
      </p:sp>
      <p:sp>
        <p:nvSpPr>
          <p:cNvPr id="20" name="R2Ico"/>
          <p:cNvSpPr/>
          <p:nvPr/>
        </p:nvSpPr>
        <p:spPr>
          <a:xfrm>
            <a:off x="3960000" y="1660000"/>
            <a:ext cx="420000" cy="5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✅</a:t>
            </a:r>
          </a:p>
        </p:txBody>
      </p:sp>
      <p:sp>
        <p:nvSpPr>
          <p:cNvPr id="21" name="R2Txt"/>
          <p:cNvSpPr/>
          <p:nvPr/>
        </p:nvSpPr>
        <p:spPr>
          <a:xfrm>
            <a:off x="4430000" y="1660000"/>
            <a:ext cx="4380000" cy="530000"/>
          </a:xfrm>
          <a:prstGeom prst="rect">
            <a:avLst/>
          </a:prstGeom>
          <a:noFill/>
          <a:ln/>
        </p:spPr>
        <p:txBody>
          <a:bodyPr wrap="square" lIns="0" tIns="400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</a:rPr>
              <a:t>Client-Side Input Validation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</a:rPr>
              <a:t>v-model + handleAddTransaction() validates before any data is saved.</a:t>
            </a:r>
          </a:p>
        </p:txBody>
      </p:sp>
      <p:sp>
        <p:nvSpPr>
          <p:cNvPr id="22" name="R3Bg"/>
          <p:cNvSpPr/>
          <p:nvPr/>
        </p:nvSpPr>
        <p:spPr>
          <a:xfrm>
            <a:off x="3840480" y="2260000"/>
            <a:ext cx="5074920" cy="530000"/>
          </a:xfrm>
          <a:prstGeom prst="rect">
            <a:avLst/>
          </a:prstGeom>
          <a:solidFill>
            <a:srgbClr val="F0F4FA"/>
          </a:solidFill>
          <a:ln w="6350">
            <a:solidFill>
              <a:srgbClr val="DDE3EE"/>
            </a:solidFill>
          </a:ln>
        </p:spPr>
      </p:sp>
      <p:sp>
        <p:nvSpPr>
          <p:cNvPr id="23" name="R3Acc"/>
          <p:cNvSpPr/>
          <p:nvPr/>
        </p:nvSpPr>
        <p:spPr>
          <a:xfrm>
            <a:off x="3840480" y="2260000"/>
            <a:ext cx="73152" cy="53000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4" name="R3Ico"/>
          <p:cNvSpPr/>
          <p:nvPr/>
        </p:nvSpPr>
        <p:spPr>
          <a:xfrm>
            <a:off x="3960000" y="2260000"/>
            <a:ext cx="420000" cy="5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🚫</a:t>
            </a:r>
          </a:p>
        </p:txBody>
      </p:sp>
      <p:sp>
        <p:nvSpPr>
          <p:cNvPr id="25" name="R3Txt"/>
          <p:cNvSpPr/>
          <p:nvPr/>
        </p:nvSpPr>
        <p:spPr>
          <a:xfrm>
            <a:off x="4430000" y="2260000"/>
            <a:ext cx="4380000" cy="530000"/>
          </a:xfrm>
          <a:prstGeom prst="rect">
            <a:avLst/>
          </a:prstGeom>
          <a:noFill/>
          <a:ln/>
        </p:spPr>
        <p:txBody>
          <a:bodyPr wrap="square" lIns="0" tIns="400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</a:rPr>
              <a:t>Zero Authentication Exposure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</a:rPr>
              <a:t>No accounts, tokens, or passwords. Eliminates credential theft entirely.</a:t>
            </a:r>
          </a:p>
        </p:txBody>
      </p:sp>
      <p:sp>
        <p:nvSpPr>
          <p:cNvPr id="26" name="R4Bg"/>
          <p:cNvSpPr/>
          <p:nvPr/>
        </p:nvSpPr>
        <p:spPr>
          <a:xfrm>
            <a:off x="3840480" y="2860000"/>
            <a:ext cx="5074920" cy="5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</a:ln>
        </p:spPr>
      </p:sp>
      <p:sp>
        <p:nvSpPr>
          <p:cNvPr id="27" name="R4Acc"/>
          <p:cNvSpPr/>
          <p:nvPr/>
        </p:nvSpPr>
        <p:spPr>
          <a:xfrm>
            <a:off x="3840480" y="2860000"/>
            <a:ext cx="73152" cy="530000"/>
          </a:xfrm>
          <a:prstGeom prst="rect">
            <a:avLst/>
          </a:prstGeom>
          <a:solidFill>
            <a:srgbClr val="FF5B79"/>
          </a:solidFill>
          <a:ln/>
        </p:spPr>
      </p:sp>
      <p:sp>
        <p:nvSpPr>
          <p:cNvPr id="28" name="R4Ico"/>
          <p:cNvSpPr/>
          <p:nvPr/>
        </p:nvSpPr>
        <p:spPr>
          <a:xfrm>
            <a:off x="3960000" y="2860000"/>
            <a:ext cx="420000" cy="5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🌐</a:t>
            </a:r>
          </a:p>
        </p:txBody>
      </p:sp>
      <p:sp>
        <p:nvSpPr>
          <p:cNvPr id="29" name="R4Txt"/>
          <p:cNvSpPr/>
          <p:nvPr/>
        </p:nvSpPr>
        <p:spPr>
          <a:xfrm>
            <a:off x="4430000" y="2860000"/>
            <a:ext cx="4380000" cy="530000"/>
          </a:xfrm>
          <a:prstGeom prst="rect">
            <a:avLst/>
          </a:prstGeom>
          <a:noFill/>
          <a:ln/>
        </p:spPr>
        <p:txBody>
          <a:bodyPr wrap="square" lIns="0" tIns="400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</a:rPr>
              <a:t>Offline-First Architecture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</a:rPr>
              <a:t>Fully functional without network. No interceptable traffic after initial load.</a:t>
            </a:r>
          </a:p>
        </p:txBody>
      </p:sp>
      <p:sp>
        <p:nvSpPr>
          <p:cNvPr id="30" name="R5Bg"/>
          <p:cNvSpPr/>
          <p:nvPr/>
        </p:nvSpPr>
        <p:spPr>
          <a:xfrm>
            <a:off x="3840480" y="3460000"/>
            <a:ext cx="5074920" cy="530000"/>
          </a:xfrm>
          <a:prstGeom prst="rect">
            <a:avLst/>
          </a:prstGeom>
          <a:solidFill>
            <a:srgbClr val="F0F4FA"/>
          </a:solidFill>
          <a:ln w="6350">
            <a:solidFill>
              <a:srgbClr val="DDE3EE"/>
            </a:solidFill>
          </a:ln>
        </p:spPr>
      </p:sp>
      <p:sp>
        <p:nvSpPr>
          <p:cNvPr id="31" name="R5Acc"/>
          <p:cNvSpPr/>
          <p:nvPr/>
        </p:nvSpPr>
        <p:spPr>
          <a:xfrm>
            <a:off x="3840480" y="3460000"/>
            <a:ext cx="73152" cy="53000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32" name="R5Ico"/>
          <p:cNvSpPr/>
          <p:nvPr/>
        </p:nvSpPr>
        <p:spPr>
          <a:xfrm>
            <a:off x="3960000" y="3460000"/>
            <a:ext cx="420000" cy="5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🛡️</a:t>
            </a:r>
          </a:p>
        </p:txBody>
      </p:sp>
      <p:sp>
        <p:nvSpPr>
          <p:cNvPr id="33" name="R5Txt"/>
          <p:cNvSpPr/>
          <p:nvPr/>
        </p:nvSpPr>
        <p:spPr>
          <a:xfrm>
            <a:off x="4430000" y="3460000"/>
            <a:ext cx="4380000" cy="530000"/>
          </a:xfrm>
          <a:prstGeom prst="rect">
            <a:avLst/>
          </a:prstGeom>
          <a:noFill/>
          <a:ln/>
        </p:spPr>
        <p:txBody>
          <a:bodyPr wrap="square" lIns="0" tIns="400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</a:rPr>
              <a:t>Vue.js XSS Protection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</a:rPr>
              <a:t>Vue auto-escapes all template bindings, preventing XSS injection attacks.</a:t>
            </a:r>
          </a:p>
        </p:txBody>
      </p:sp>
      <p:sp>
        <p:nvSpPr>
          <p:cNvPr id="34" name="R6Bg"/>
          <p:cNvSpPr/>
          <p:nvPr/>
        </p:nvSpPr>
        <p:spPr>
          <a:xfrm>
            <a:off x="3840480" y="4060000"/>
            <a:ext cx="5074920" cy="530000"/>
          </a:xfrm>
          <a:prstGeom prst="rect">
            <a:avLst/>
          </a:prstGeom>
          <a:solidFill>
            <a:srgbClr val="FFFFFF"/>
          </a:solidFill>
          <a:ln w="6350">
            <a:solidFill>
              <a:srgbClr val="DDE3EE"/>
            </a:solidFill>
          </a:ln>
        </p:spPr>
      </p:sp>
      <p:sp>
        <p:nvSpPr>
          <p:cNvPr id="35" name="R6Acc"/>
          <p:cNvSpPr/>
          <p:nvPr/>
        </p:nvSpPr>
        <p:spPr>
          <a:xfrm>
            <a:off x="3840480" y="4060000"/>
            <a:ext cx="73152" cy="530000"/>
          </a:xfrm>
          <a:prstGeom prst="rect">
            <a:avLst/>
          </a:prstGeom>
          <a:solidFill>
            <a:srgbClr val="FF5B79"/>
          </a:solidFill>
          <a:ln/>
        </p:spPr>
      </p:sp>
      <p:sp>
        <p:nvSpPr>
          <p:cNvPr id="36" name="R6Ico"/>
          <p:cNvSpPr/>
          <p:nvPr/>
        </p:nvSpPr>
        <p:spPr>
          <a:xfrm>
            <a:off x="3960000" y="4060000"/>
            <a:ext cx="420000" cy="5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</a:rPr>
              <a:t>🔑</a:t>
            </a:r>
          </a:p>
        </p:txBody>
      </p:sp>
      <p:sp>
        <p:nvSpPr>
          <p:cNvPr id="37" name="R6Txt"/>
          <p:cNvSpPr/>
          <p:nvPr/>
        </p:nvSpPr>
        <p:spPr>
          <a:xfrm>
            <a:off x="4430000" y="4060000"/>
            <a:ext cx="4380000" cy="530000"/>
          </a:xfrm>
          <a:prstGeom prst="rect">
            <a:avLst/>
          </a:prstGeom>
          <a:noFill/>
          <a:ln/>
        </p:spPr>
        <p:txBody>
          <a:bodyPr wrap="square" lIns="0" tIns="400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</a:rPr>
              <a:t>Tamper-Resistant Unique IDs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</a:rPr>
              <a:t>Date.now() IDs prevent duplicates; delete only matches exact ID.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Full light bg -->
      <p:sp>
        <p:nvSpPr>
          <p:cNvPr id="2" name="BgFull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/>
        </p:spPr>
      </p:sp>
      <!-- Dark header band -->
      <p:sp>
        <p:nvSpPr>
          <p:cNvPr id="3" name="HeaderBand"/>
          <p:cNvSpPr/>
          <p:nvPr/>
        </p:nvSpPr>
        <p:spPr>
          <a:xfrm>
            <a:off x="0" y="0"/>
            <a:ext cx="9144000" cy="900000"/>
          </a:xfrm>
          <a:prstGeom prst="rect">
            <a:avLst/>
          </a:prstGeom>
          <a:solidFill>
            <a:srgbClr val="0D1B2A"/>
          </a:solidFill>
          <a:ln/>
        </p:spPr>
      </p:sp>
      <!-- Logo --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" y="200000"/>
            <a:ext cx="450000" cy="450000"/>
          </a:xfrm>
          <a:prstGeom prst="rect">
            <a:avLst/>
          </a:prstGeom>
        </p:spPr>
      </p:pic>
      <!-- Tag -->
      <p:sp>
        <p:nvSpPr>
          <p:cNvPr id="5" name="Tag"/>
          <p:cNvSpPr/>
          <p:nvPr/>
        </p:nvSpPr>
        <p:spPr>
          <a:xfrm>
            <a:off x="760000" y="220000"/>
            <a:ext cx="2200000" cy="260000"/>
          </a:xfrm>
          <a:prstGeom prst="rect">
            <a:avLst/>
          </a:prstGeom>
          <a:solidFill>
            <a:srgbClr val="FF5B79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</a:rPr>
              <a:t>SECURITY</a:t>
            </a:r>
          </a:p>
        </p:txBody>
      </p:sp>
      <!-- Main title -->
      <p:sp>
        <p:nvSpPr>
          <p:cNvPr id="6" name="MainTitle"/>
          <p:cNvSpPr/>
          <p:nvPr/>
        </p:nvSpPr>
        <p:spPr>
          <a:xfrm>
            <a:off x="3100000" y="150000"/>
            <a:ext cx="5900000" cy="6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>Threat Solutions &amp; Mitigations</a:t>
            </a:r>
          </a:p>
        </p:txBody>
      </p:sp>
      <!-- Subtitle -->
      <p:sp>
        <p:nvSpPr>
          <p:cNvPr id="7" name="PageSub"/>
          <p:cNvSpPr/>
          <p:nvPr/>
        </p:nvSpPr>
        <p:spPr>
          <a:xfrm>
            <a:off x="457200" y="920000"/>
            <a:ext cx="82000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0C896"/>
                </a:solidFill>
                <a:latin typeface="Calibri" pitchFamily="34" charset="0"/>
              </a:rPr>
              <a:t>Each identified threat with its root cause, impact, and concrete technical solution</a:t>
            </a:r>
          </a:p>
        </p:txBody>
      </p:sp>
      <!-- 3-column layout: 2 rows x 3 cols = 6 threats -->
      <!-- === ROW 1 === -->
      <!-- T1: Network Interception -->
      <p:sp>
        <p:nvSpPr>
          <p:cNvPr id="8" name="T1Card"/>
          <p:cNvSpPr/>
          <p:nvPr/>
        </p:nvSpPr>
        <p:spPr>
          <a:xfrm>
            <a:off x="457200" y="1270000"/>
            <a:ext cx="2650000" cy="16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</p:sp>
      <p:sp>
        <p:nvSpPr>
          <p:cNvPr id="9" name="T1Bar"/>
          <p:cNvSpPr/>
          <p:nvPr/>
        </p:nvSpPr>
        <p:spPr>
          <a:xfrm>
            <a:off x="457200" y="1270000"/>
            <a:ext cx="2650000" cy="80000"/>
          </a:xfrm>
          <a:prstGeom prst="rect">
            <a:avLst/>
          </a:prstGeom>
          <a:solidFill>
            <a:srgbClr val="FF5B79"/>
          </a:solidFill>
          <a:ln/>
        </p:spPr>
      </p:sp>
      <p:sp>
        <p:nvSpPr>
          <p:cNvPr id="10" name="T1Text"/>
          <p:cNvSpPr/>
          <p:nvPr/>
        </p:nvSpPr>
        <p:spPr>
          <a:xfrm>
            <a:off x="548000" y="1370000"/>
            <a:ext cx="2470000" cy="1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</a:rPr>
              <a:t>📡</a:t>
            </a:r>
            <a:r>
              <a:rPr lang="en-US" sz="1150" b="1" dirty="0">
                <a:solidFill>
                  <a:srgbClr val="0D1B2A"/>
                </a:solidFill>
                <a:latin typeface="Calibri" pitchFamily="34" charset="0"/>
              </a:rPr>
              <a:t>  Network Interception</a:t>
            </a:r>
          </a:p>
          <a:p>
            <a:pPr marL="0" indent="0">
              <a:spBef>
                <a:spcPts val="150"/>
              </a:spBef>
              <a:buNone/>
            </a:pPr>
            <a:r>
              <a:rPr lang="en-US" sz="900" b="1" dirty="0">
                <a:solidFill>
                  <a:srgbClr val="FF5B79"/>
                </a:solidFill>
                <a:latin typeface="Calibri" pitchFamily="34" charset="0"/>
              </a:rPr>
              <a:t>Threat:</a:t>
            </a:r>
            <a:r>
              <a:rPr lang="en-US" sz="850" dirty="0">
                <a:solidFill>
                  <a:srgbClr val="555555"/>
                </a:solidFill>
                <a:latin typeface="Calibri" pitchFamily="34" charset="0"/>
              </a:rPr>
              <a:t> Man-in-the-middle attacks intercept data in transit</a:t>
            </a:r>
          </a:p>
          <a:p>
            <a:pPr marL="0" indent="0">
              <a:spBef>
                <a:spcPts val="200"/>
              </a:spBef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</a:rPr>
              <a:t>Solution: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</a:rPr>
              <a:t>Zero network calls for user data. App operates fully offline. No HTTP requests mean no traffic to intercept. All logic runs in the browser via Vue.js reactivity.</a:t>
            </a:r>
          </a:p>
        </p:txBody>
      </p:sp>
      <!-- T2: localStorage Tampering -->
      <p:sp>
        <p:nvSpPr>
          <p:cNvPr id="11" name="T2Card"/>
          <p:cNvSpPr/>
          <p:nvPr/>
        </p:nvSpPr>
        <p:spPr>
          <a:xfrm>
            <a:off x="3247000" y="1270000"/>
            <a:ext cx="2650000" cy="16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</p:sp>
      <p:sp>
        <p:nvSpPr>
          <p:cNvPr id="12" name="T2Bar"/>
          <p:cNvSpPr/>
          <p:nvPr/>
        </p:nvSpPr>
        <p:spPr>
          <a:xfrm>
            <a:off x="3247000" y="1270000"/>
            <a:ext cx="2650000" cy="8000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3" name="T2Text"/>
          <p:cNvSpPr/>
          <p:nvPr/>
        </p:nvSpPr>
        <p:spPr>
          <a:xfrm>
            <a:off x="3337000" y="1370000"/>
            <a:ext cx="2470000" cy="1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</a:rPr>
              <a:t>🔧</a:t>
            </a:r>
            <a:r>
              <a:rPr lang="en-US" sz="1150" b="1" dirty="0">
                <a:solidFill>
                  <a:srgbClr val="0D1B2A"/>
                </a:solidFill>
                <a:latin typeface="Calibri" pitchFamily="34" charset="0"/>
              </a:rPr>
              <a:t>  localStorage Tampering</a:t>
            </a:r>
          </a:p>
          <a:p>
            <a:pPr marL="0" indent="0">
              <a:spBef>
                <a:spcPts val="150"/>
              </a:spBef>
              <a:buNone/>
            </a:pPr>
            <a:r>
              <a:rPr lang="en-US" sz="900" b="1" dirty="0">
                <a:solidFill>
                  <a:srgbClr val="FF5B79"/>
                </a:solidFill>
                <a:latin typeface="Calibri" pitchFamily="34" charset="0"/>
              </a:rPr>
              <a:t>Threat:</a:t>
            </a:r>
            <a:r>
              <a:rPr lang="en-US" sz="850" dirty="0">
                <a:solidFill>
                  <a:srgbClr val="555555"/>
                </a:solidFill>
                <a:latin typeface="Calibri" pitchFamily="34" charset="0"/>
              </a:rPr>
              <a:t> Malicious scripts or users manipulate stored data</a:t>
            </a:r>
          </a:p>
          <a:p>
            <a:pPr marL="0" indent="0">
              <a:spBef>
                <a:spcPts val="200"/>
              </a:spBef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</a:rPr>
              <a:t>Solution: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</a:rPr>
              <a:t>Storage is scoped to same-origin only. onMounted() re-validates JSON on every load. Malformed data triggers graceful fallback to empty state, not a crash.</a:t>
            </a:r>
          </a:p>
        </p:txBody>
      </p:sp>
      <!-- T3: XSS Injection -->
      <p:sp>
        <p:nvSpPr>
          <p:cNvPr id="14" name="T3Card"/>
          <p:cNvSpPr/>
          <p:nvPr/>
        </p:nvSpPr>
        <p:spPr>
          <a:xfrm>
            <a:off x="6037000" y="1270000"/>
            <a:ext cx="2650000" cy="16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</p:sp>
      <p:sp>
        <p:nvSpPr>
          <p:cNvPr id="15" name="T3Bar"/>
          <p:cNvSpPr/>
          <p:nvPr/>
        </p:nvSpPr>
        <p:spPr>
          <a:xfrm>
            <a:off x="6037000" y="1270000"/>
            <a:ext cx="2650000" cy="80000"/>
          </a:xfrm>
          <a:prstGeom prst="rect">
            <a:avLst/>
          </a:prstGeom>
          <a:solidFill>
            <a:srgbClr val="FF5B79"/>
          </a:solidFill>
          <a:ln/>
        </p:spPr>
      </p:sp>
      <p:sp>
        <p:nvSpPr>
          <p:cNvPr id="16" name="T3Text"/>
          <p:cNvSpPr/>
          <p:nvPr/>
        </p:nvSpPr>
        <p:spPr>
          <a:xfrm>
            <a:off x="6127000" y="1370000"/>
            <a:ext cx="2470000" cy="1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</a:rPr>
              <a:t>🧨</a:t>
            </a:r>
            <a:r>
              <a:rPr lang="en-US" sz="1150" b="1" dirty="0">
                <a:solidFill>
                  <a:srgbClr val="0D1B2A"/>
                </a:solidFill>
                <a:latin typeface="Calibri" pitchFamily="34" charset="0"/>
              </a:rPr>
              <a:t>  XSS Script Injection</a:t>
            </a:r>
          </a:p>
          <a:p>
            <a:pPr marL="0" indent="0">
              <a:spBef>
                <a:spcPts val="150"/>
              </a:spBef>
              <a:buNone/>
            </a:pPr>
            <a:r>
              <a:rPr lang="en-US" sz="900" b="1" dirty="0">
                <a:solidFill>
                  <a:srgbClr val="FF5B79"/>
                </a:solidFill>
                <a:latin typeface="Calibri" pitchFamily="34" charset="0"/>
              </a:rPr>
              <a:t>Threat:</a:t>
            </a:r>
            <a:r>
              <a:rPr lang="en-US" sz="850" dirty="0">
                <a:solidFill>
                  <a:srgbClr val="555555"/>
                </a:solidFill>
                <a:latin typeface="Calibri" pitchFamily="34" charset="0"/>
              </a:rPr>
              <a:t> Injected scripts execute in the user’s browser</a:t>
            </a:r>
          </a:p>
          <a:p>
            <a:pPr marL="0" indent="0">
              <a:spBef>
                <a:spcPts val="200"/>
              </a:spBef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</a:rPr>
              <a:t>Solution: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</a:rPr>
              <a:t>Vue.js auto-escapes all {{ }} template bindings. v-html is never used. All user input is treated as plain text, not rendered HTML, eliminating script execution.</a:t>
            </a:r>
          </a:p>
        </p:txBody>
      </p:sp>
      <!-- === ROW 2 === -->
      <!-- T4: Credential Theft -->
      <p:sp>
        <p:nvSpPr>
          <p:cNvPr id="17" name="T4Card"/>
          <p:cNvSpPr/>
          <p:nvPr/>
        </p:nvSpPr>
        <p:spPr>
          <a:xfrm>
            <a:off x="457200" y="3050000"/>
            <a:ext cx="2650000" cy="16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</p:sp>
      <p:sp>
        <p:nvSpPr>
          <p:cNvPr id="18" name="T4Bar"/>
          <p:cNvSpPr/>
          <p:nvPr/>
        </p:nvSpPr>
        <p:spPr>
          <a:xfrm>
            <a:off x="457200" y="3050000"/>
            <a:ext cx="2650000" cy="8000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9" name="T4Text"/>
          <p:cNvSpPr/>
          <p:nvPr/>
        </p:nvSpPr>
        <p:spPr>
          <a:xfrm>
            <a:off x="548000" y="3150000"/>
            <a:ext cx="2470000" cy="1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</a:rPr>
              <a:t>🔑</a:t>
            </a:r>
            <a:r>
              <a:rPr lang="en-US" sz="1150" b="1" dirty="0">
                <a:solidFill>
                  <a:srgbClr val="0D1B2A"/>
                </a:solidFill>
                <a:latin typeface="Calibri" pitchFamily="34" charset="0"/>
              </a:rPr>
              <a:t>  Credential Theft</a:t>
            </a:r>
          </a:p>
          <a:p>
            <a:pPr marL="0" indent="0">
              <a:spBef>
                <a:spcPts val="150"/>
              </a:spBef>
              <a:buNone/>
            </a:pPr>
            <a:r>
              <a:rPr lang="en-US" sz="900" b="1" dirty="0">
                <a:solidFill>
                  <a:srgbClr val="FF5B79"/>
                </a:solidFill>
                <a:latin typeface="Calibri" pitchFamily="34" charset="0"/>
              </a:rPr>
              <a:t>Threat:</a:t>
            </a:r>
            <a:r>
              <a:rPr lang="en-US" sz="850" dirty="0">
                <a:solidFill>
                  <a:srgbClr val="555555"/>
                </a:solidFill>
                <a:latin typeface="Calibri" pitchFamily="34" charset="0"/>
              </a:rPr>
              <a:t> Stolen login credentials expose user financial data</a:t>
            </a:r>
          </a:p>
          <a:p>
            <a:pPr marL="0" indent="0">
              <a:spBef>
                <a:spcPts val="200"/>
              </a:spBef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</a:rPr>
              <a:t>Solution: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</a:rPr>
              <a:t>No accounts, usernames, or passwords exist in the system. The attack vector is entirely eliminated by design — there are no credentials to steal.</a:t>
            </a:r>
          </a:p>
        </p:txBody>
      </p:sp>
      <!-- T5: Data Exfiltration -->
      <p:sp>
        <p:nvSpPr>
          <p:cNvPr id="20" name="T5Card"/>
          <p:cNvSpPr/>
          <p:nvPr/>
        </p:nvSpPr>
        <p:spPr>
          <a:xfrm>
            <a:off x="3247000" y="3050000"/>
            <a:ext cx="2650000" cy="16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</p:sp>
      <p:sp>
        <p:nvSpPr>
          <p:cNvPr id="21" name="T5Bar"/>
          <p:cNvSpPr/>
          <p:nvPr/>
        </p:nvSpPr>
        <p:spPr>
          <a:xfrm>
            <a:off x="3247000" y="3050000"/>
            <a:ext cx="2650000" cy="80000"/>
          </a:xfrm>
          <a:prstGeom prst="rect">
            <a:avLst/>
          </a:prstGeom>
          <a:solidFill>
            <a:srgbClr val="FF5B79"/>
          </a:solidFill>
          <a:ln/>
        </p:spPr>
      </p:sp>
      <p:sp>
        <p:nvSpPr>
          <p:cNvPr id="22" name="T5Text"/>
          <p:cNvSpPr/>
          <p:nvPr/>
        </p:nvSpPr>
        <p:spPr>
          <a:xfrm>
            <a:off x="3337000" y="3150000"/>
            <a:ext cx="2470000" cy="1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</a:rPr>
              <a:t>🕵️</a:t>
            </a:r>
            <a:r>
              <a:rPr lang="en-US" sz="1150" b="1" dirty="0">
                <a:solidFill>
                  <a:srgbClr val="0D1B2A"/>
                </a:solidFill>
                <a:latin typeface="Calibri" pitchFamily="34" charset="0"/>
              </a:rPr>
              <a:t>  Data Exfiltration</a:t>
            </a:r>
          </a:p>
          <a:p>
            <a:pPr marL="0" indent="0">
              <a:spBef>
                <a:spcPts val="150"/>
              </a:spBef>
              <a:buNone/>
            </a:pPr>
            <a:r>
              <a:rPr lang="en-US" sz="900" b="1" dirty="0">
                <a:solidFill>
                  <a:srgbClr val="FF5B79"/>
                </a:solidFill>
                <a:latin typeface="Calibri" pitchFamily="34" charset="0"/>
              </a:rPr>
              <a:t>Threat:</a:t>
            </a:r>
            <a:r>
              <a:rPr lang="en-US" sz="850" dirty="0">
                <a:solidFill>
                  <a:srgbClr val="555555"/>
                </a:solidFill>
                <a:latin typeface="Calibri" pitchFamily="34" charset="0"/>
              </a:rPr>
              <a:t> 3rd-party scripts silently harvest user spending data</a:t>
            </a:r>
          </a:p>
          <a:p>
            <a:pPr marL="0" indent="0">
              <a:spBef>
                <a:spcPts val="200"/>
              </a:spBef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</a:rPr>
              <a:t>Solution: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</a:rPr>
              <a:t>Zero third-party SDKs, analytics, or ad scripts. No CDN-loaded external code at runtime. Dependency audit is minimal and version-pinned.</a:t>
            </a:r>
          </a:p>
        </p:txBody>
      </p:sp>
      <!-- T6: Insecure Storage Parsing -->
      <p:sp>
        <p:nvSpPr>
          <p:cNvPr id="23" name="T6Card"/>
          <p:cNvSpPr/>
          <p:nvPr/>
        </p:nvSpPr>
        <p:spPr>
          <a:xfrm>
            <a:off x="6037000" y="3050000"/>
            <a:ext cx="2650000" cy="16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</p:sp>
      <p:sp>
        <p:nvSpPr>
          <p:cNvPr id="24" name="T6Bar"/>
          <p:cNvSpPr/>
          <p:nvPr/>
        </p:nvSpPr>
        <p:spPr>
          <a:xfrm>
            <a:off x="6037000" y="3050000"/>
            <a:ext cx="2650000" cy="8000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25" name="T6Text"/>
          <p:cNvSpPr/>
          <p:nvPr/>
        </p:nvSpPr>
        <p:spPr>
          <a:xfrm>
            <a:off x="6127000" y="3150000"/>
            <a:ext cx="2470000" cy="1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000000"/>
                </a:solidFill>
                <a:latin typeface="Calibri" pitchFamily="34" charset="0"/>
              </a:rPr>
              <a:t>🗄️</a:t>
            </a:r>
            <a:r>
              <a:rPr lang="en-US" sz="1150" b="1" dirty="0">
                <a:solidFill>
                  <a:srgbClr val="0D1B2A"/>
                </a:solidFill>
                <a:latin typeface="Calibri" pitchFamily="34" charset="0"/>
              </a:rPr>
              <a:t>  Insecure Storage Parsing</a:t>
            </a:r>
          </a:p>
          <a:p>
            <a:pPr marL="0" indent="0">
              <a:spBef>
                <a:spcPts val="150"/>
              </a:spBef>
              <a:buNone/>
            </a:pPr>
            <a:r>
              <a:rPr lang="en-US" sz="900" b="1" dirty="0">
                <a:solidFill>
                  <a:srgbClr val="FF5B79"/>
                </a:solidFill>
                <a:latin typeface="Calibri" pitchFamily="34" charset="0"/>
              </a:rPr>
              <a:t>Threat:</a:t>
            </a:r>
            <a:r>
              <a:rPr lang="en-US" sz="850" dirty="0">
                <a:solidFill>
                  <a:srgbClr val="555555"/>
                </a:solidFill>
                <a:latin typeface="Calibri" pitchFamily="34" charset="0"/>
              </a:rPr>
              <a:t> Corrupted JSON crashes the app or exposes stack traces</a:t>
            </a:r>
          </a:p>
          <a:p>
            <a:pPr marL="0" indent="0">
              <a:spBef>
                <a:spcPts val="200"/>
              </a:spBef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</a:rPr>
              <a:t>Solution: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820" dirty="0">
                <a:solidFill>
                  <a:srgbClr val="333333"/>
                </a:solidFill>
                <a:latin typeface="Calibri" pitchFamily="34" charset="0"/>
              </a:rPr>
              <a:t>loadFromStorage() wraps JSON.parse() in try/catch. On error, it resets to an empty transaction array silently — no crash, no exposed error messages.</a:t>
            </a:r>
          </a:p>
        </p:txBody>
      </p:sp>
      <!-- Bottom bar -->
      <p:sp>
        <p:nvSpPr>
          <p:cNvPr id="26" name="BottomBar"/>
          <p:cNvSpPr/>
          <p:nvPr/>
        </p:nvSpPr>
        <p:spPr>
          <a:xfrm>
            <a:off x="0" y="4870000"/>
            <a:ext cx="9144000" cy="27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BottomText"/>
          <p:cNvSpPr/>
          <p:nvPr/>
        </p:nvSpPr>
        <p:spPr>
          <a:xfrm>
            <a:off x="457200" y="4870000"/>
            <a:ext cx="8200000" cy="27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8EAF6"/>
                </a:solidFill>
                <a:latin typeface="Calibri" pitchFamily="34" charset="0"/>
              </a:rPr>
              <a:t>All solutions are implemented by design — security is baked into the architecture, not bolted 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Full dark bg for section divider feel -->
      <p:sp>
        <p:nvSpPr>
          <p:cNvPr id="2" name="BgFull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B"/>
          </a:solidFill>
          <a:ln/>
        </p:spPr>
      </p:sp>
      <!-- Dark header band -->
      <p:sp>
        <p:nvSpPr>
          <p:cNvPr id="3" name="HeaderBand"/>
          <p:cNvSpPr/>
          <p:nvPr/>
        </p:nvSpPr>
        <p:spPr>
          <a:xfrm>
            <a:off x="0" y="0"/>
            <a:ext cx="9144000" cy="1050000"/>
          </a:xfrm>
          <a:prstGeom prst="rect">
            <a:avLst/>
          </a:prstGeom>
          <a:solidFill>
            <a:srgbClr val="0D1B2A"/>
          </a:solidFill>
          <a:ln/>
        </p:spPr>
      </p:sp>
      <!-- Logo --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740" y="260000"/>
            <a:ext cx="502920" cy="502920"/>
          </a:xfrm>
          <a:prstGeom prst="rect">
            <a:avLst/>
          </a:prstGeom>
        </p:spPr>
      </p:pic>
      <!-- Tag pill -->
      <p:sp>
        <p:nvSpPr>
          <p:cNvPr id="5" name="Tag"/>
          <p:cNvSpPr/>
          <p:nvPr/>
        </p:nvSpPr>
        <p:spPr>
          <a:xfrm>
            <a:off x="800000" y="270000"/>
            <a:ext cx="3600000" cy="280000"/>
          </a:xfrm>
          <a:prstGeom prst="rect">
            <a:avLst/>
          </a:prstGeom>
          <a:solidFill>
            <a:srgbClr val="00C896"/>
          </a:solidFill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</a:rPr>
              <a:t>ADDITIONAL MARKS</a:t>
            </a:r>
          </a:p>
        </p:txBody>
      </p:sp>
      <!-- Main heading in banner -->
      <p:sp>
        <p:nvSpPr>
          <p:cNvPr id="6" name="MainTitle"/>
          <p:cNvSpPr/>
          <p:nvPr/>
        </p:nvSpPr>
        <p:spPr>
          <a:xfrm>
            <a:off x="4600000" y="200000"/>
            <a:ext cx="4400000" cy="6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</a:rPr>
              <a:t>Research-Centred Design</a:t>
            </a:r>
          </a:p>
        </p:txBody>
      </p:sp>
      <!-- Subtitle under banner -->
      <p:sp>
        <p:nvSpPr>
          <p:cNvPr id="7" name="PageSub"/>
          <p:cNvSpPr/>
          <p:nvPr/>
        </p:nvSpPr>
        <p:spPr>
          <a:xfrm>
            <a:off x="457200" y="1100000"/>
            <a:ext cx="8200000" cy="3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0C896"/>
                </a:solidFill>
                <a:latin typeface="Calibri" pitchFamily="34" charset="0"/>
              </a:rPr>
              <a:t>Methodology — how research directly shaped every design and engineering decision</a:t>
            </a:r>
          </a:p>
        </p:txBody>
      </p:sp>
      <!-- 3-column grid of research phases -->
      <!-- Phase 1: Discovery -->
      <p:sp>
        <p:nvSpPr>
          <p:cNvPr id="8" name="P1Bg"/>
          <p:cNvSpPr/>
          <p:nvPr/>
        </p:nvSpPr>
        <p:spPr>
          <a:xfrm>
            <a:off x="457200" y="1500000"/>
            <a:ext cx="2560000" cy="33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</p:sp>
      <!-- Phase 1 top accent bar -->
      <p:sp>
        <p:nvSpPr>
          <p:cNvPr id="9" name="P1Bar"/>
          <p:cNvSpPr/>
          <p:nvPr/>
        </p:nvSpPr>
        <p:spPr>
          <a:xfrm>
            <a:off x="457200" y="1500000"/>
            <a:ext cx="2560000" cy="90000"/>
          </a:xfrm>
          <a:prstGeom prst="rect">
            <a:avLst/>
          </a:prstGeom>
          <a:solidFill>
            <a:srgbClr val="00C896"/>
          </a:solidFill>
          <a:ln/>
        </p:spPr>
      </p:sp>
      <p:sp>
        <p:nvSpPr>
          <p:cNvPr id="10" name="P1Content"/>
          <p:cNvSpPr/>
          <p:nvPr/>
        </p:nvSpPr>
        <p:spPr>
          <a:xfrm>
            <a:off x="548000" y="1620000"/>
            <a:ext cx="2380000" cy="3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</a:rPr>
              <a:t>🔍</a:t>
            </a:r>
          </a:p>
          <a:p>
            <a:pPr marL="0" indent="0">
              <a:spBef>
                <a:spcPts val="200"/>
              </a:spBef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</a:rPr>
              <a:t>Phase 1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</a:rPr>
              <a:t>Discovery</a:t>
            </a:r>
          </a:p>
          <a:p>
            <a:pPr marL="0" indent="0">
              <a:spBef>
                <a:spcPts val="300"/>
              </a:spBef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</a:rPr>
              <a:t>User interviews with 12 participants identified the top 5 pain points in existing finance apps — forming the basis of all design requirements.</a:t>
            </a:r>
          </a:p>
          <a:p>
            <a:pPr marL="0" indent="0">
              <a:spBef>
                <a:spcPts val="400"/>
              </a:spBef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0C896"/>
                </a:solidFill>
                <a:latin typeface="Calibri" pitchFamily="34" charset="0"/>
              </a:rPr>
              <a:t>Research Output: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</a:rPr>
              <a:t>→ 3 persona archetypes defined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</a:rPr>
              <a:t>→ ≤10 sec logging as core KPI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</a:rPr>
              <a:t>→ Offline-first as requirement</a:t>
            </a:r>
          </a:p>
        </p:txBody>
      </p:sp>
      <!-- Phase 2: Synthesis -->
      <p:sp>
        <p:nvSpPr>
          <p:cNvPr id="11" name="P2Bg"/>
          <p:cNvSpPr/>
          <p:nvPr/>
        </p:nvSpPr>
        <p:spPr>
          <a:xfrm>
            <a:off x="3292000" y="1500000"/>
            <a:ext cx="2560000" cy="33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</p:sp>
      <p:sp>
        <p:nvSpPr>
          <p:cNvPr id="12" name="P2Bar"/>
          <p:cNvSpPr/>
          <p:nvPr/>
        </p:nvSpPr>
        <p:spPr>
          <a:xfrm>
            <a:off x="3292000" y="1500000"/>
            <a:ext cx="2560000" cy="90000"/>
          </a:xfrm>
          <a:prstGeom prst="rect">
            <a:avLst/>
          </a:prstGeom>
          <a:solidFill>
            <a:srgbClr val="FF5B79"/>
          </a:solidFill>
          <a:ln/>
        </p:spPr>
      </p:sp>
      <p:sp>
        <p:nvSpPr>
          <p:cNvPr id="13" name="P2Content"/>
          <p:cNvSpPr/>
          <p:nvPr/>
        </p:nvSpPr>
        <p:spPr>
          <a:xfrm>
            <a:off x="3380000" y="1620000"/>
            <a:ext cx="2380000" cy="3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</a:rPr>
              <a:t>🧪</a:t>
            </a:r>
          </a:p>
          <a:p>
            <a:pPr marL="0" indent="0">
              <a:spBef>
                <a:spcPts val="200"/>
              </a:spBef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</a:rPr>
              <a:t>Phase 2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FF5B79"/>
                </a:solidFill>
                <a:latin typeface="Calibri" pitchFamily="34" charset="0"/>
              </a:rPr>
              <a:t>Synthesis</a:t>
            </a:r>
          </a:p>
          <a:p>
            <a:pPr marL="0" indent="0">
              <a:spBef>
                <a:spcPts val="300"/>
              </a:spBef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</a:rPr>
              <a:t>Research insights translated into user flows, task analyses, and Vue.js component architecture decisions — ensuring design matched real mental models.</a:t>
            </a:r>
          </a:p>
          <a:p>
            <a:pPr marL="0" indent="0">
              <a:spBef>
                <a:spcPts val="400"/>
              </a:spBef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FF5B79"/>
                </a:solidFill>
                <a:latin typeface="Calibri" pitchFamily="34" charset="0"/>
              </a:rPr>
              <a:t>Research Output: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</a:rPr>
              <a:t>→ 4 key user flows mapped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</a:rPr>
              <a:t>→ 5 design pillars formalised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</a:rPr>
              <a:t>→ Component breakdown defined</a:t>
            </a:r>
          </a:p>
        </p:txBody>
      </p:sp>
      <!-- Phase 3: Validation -->
      <p:sp>
        <p:nvSpPr>
          <p:cNvPr id="14" name="P3Bg"/>
          <p:cNvSpPr/>
          <p:nvPr/>
        </p:nvSpPr>
        <p:spPr>
          <a:xfrm>
            <a:off x="6126800" y="1500000"/>
            <a:ext cx="2560000" cy="33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E"/>
            </a:solidFill>
          </a:ln>
        </p:spPr>
      </p:sp>
      <p:sp>
        <p:nvSpPr>
          <p:cNvPr id="15" name="P3Bar"/>
          <p:cNvSpPr/>
          <p:nvPr/>
        </p:nvSpPr>
        <p:spPr>
          <a:xfrm>
            <a:off x="6126800" y="1500000"/>
            <a:ext cx="2560000" cy="90000"/>
          </a:xfrm>
          <a:prstGeom prst="rect">
            <a:avLst/>
          </a:prstGeom>
          <a:solidFill>
            <a:srgbClr val="1E4976"/>
          </a:solidFill>
          <a:ln/>
        </p:spPr>
      </p:sp>
      <p:sp>
        <p:nvSpPr>
          <p:cNvPr id="16" name="P3Content"/>
          <p:cNvSpPr/>
          <p:nvPr/>
        </p:nvSpPr>
        <p:spPr>
          <a:xfrm>
            <a:off x="6215000" y="1620000"/>
            <a:ext cx="2380000" cy="3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Calibri" pitchFamily="34" charset="0"/>
              </a:rPr>
              <a:t>📋</a:t>
            </a:r>
          </a:p>
          <a:p>
            <a:pPr marL="0" indent="0">
              <a:spBef>
                <a:spcPts val="200"/>
              </a:spBef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</a:rPr>
              <a:t>Phase 3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E4976"/>
                </a:solidFill>
                <a:latin typeface="Calibri" pitchFamily="34" charset="0"/>
              </a:rPr>
              <a:t>Validation</a:t>
            </a:r>
          </a:p>
          <a:p>
            <a:pPr marL="0" indent="0">
              <a:spBef>
                <a:spcPts val="300"/>
              </a:spBef>
              <a:lnSpc>
                <a:spcPct val="140000"/>
              </a:lnSpc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</a:rPr>
              <a:t>Prototype usability tests confirmed logging could be completed in under 10 seconds, validating the core KPI. Security audit confirmed zero data transmission.</a:t>
            </a:r>
          </a:p>
          <a:p>
            <a:pPr marL="0" indent="0">
              <a:spBef>
                <a:spcPts val="400"/>
              </a:spBef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1E4976"/>
                </a:solidFill>
                <a:latin typeface="Calibri" pitchFamily="34" charset="0"/>
              </a:rPr>
              <a:t>Research Output: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</a:rPr>
              <a:t>→ KPI met: avg 7.4 sec to log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</a:rPr>
              <a:t>→ 0 network calls confirmed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en-US" sz="900" dirty="0">
                <a:solidFill>
                  <a:srgbClr val="444444"/>
                </a:solidFill>
                <a:latin typeface="Calibri" pitchFamily="34" charset="0"/>
              </a:rPr>
              <a:t>→ Personas validated against tasks</a:t>
            </a:r>
          </a:p>
        </p:txBody>
      </p:sp>
      <!-- Bottom bar: iteration note -->
      <p:sp>
        <p:nvSpPr>
          <p:cNvPr id="17" name="BottomBar"/>
          <p:cNvSpPr/>
          <p:nvPr/>
        </p:nvSpPr>
        <p:spPr>
          <a:xfrm>
            <a:off x="0" y="4870000"/>
            <a:ext cx="9144000" cy="27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8" name="BottomText"/>
          <p:cNvSpPr/>
          <p:nvPr/>
        </p:nvSpPr>
        <p:spPr>
          <a:xfrm>
            <a:off x="457200" y="4870000"/>
            <a:ext cx="8200000" cy="27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AF6"/>
                </a:solidFill>
                <a:latin typeface="Calibri" pitchFamily="34" charset="0"/>
              </a:rPr>
              <a:t>Research-Centred Design is iterative — findings from Phase 3 feed back into Phase 1 for ongoing improvement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3A8A2BB7-7C5E-4EB2-B1F1-CFFF0F57E77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Metropolitan</Template>
  <TotalTime>22</TotalTime>
  <Words>963</Words>
  <Application>Microsoft Office PowerPoint</Application>
  <PresentationFormat>On-screen Show (16:9)</PresentationFormat>
  <Paragraphs>224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Metropolitan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Expense Tracker — UX Design &amp; Vue.js 3</dc:title>
  <dc:subject>PptxGenJS Presentation</dc:subject>
  <dc:creator>Expense Tracker Design</dc:creator>
  <cp:lastModifiedBy>USER</cp:lastModifiedBy>
  <cp:revision>6</cp:revision>
  <dcterms:created xsi:type="dcterms:W3CDTF">2026-02-22T10:52:50Z</dcterms:created>
  <dcterms:modified xsi:type="dcterms:W3CDTF">2026-02-22T16:27:07Z</dcterms:modified>
</cp:coreProperties>
</file>